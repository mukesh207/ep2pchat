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6" r:id="rId1"/>
  </p:sldMasterIdLst>
  <p:notesMasterIdLst>
    <p:notesMasterId r:id="rId35"/>
  </p:notesMasterIdLst>
  <p:handoutMasterIdLst>
    <p:handoutMasterId r:id="rId36"/>
  </p:handoutMasterIdLst>
  <p:sldIdLst>
    <p:sldId id="327" r:id="rId2"/>
    <p:sldId id="258" r:id="rId3"/>
    <p:sldId id="262" r:id="rId4"/>
    <p:sldId id="269" r:id="rId5"/>
    <p:sldId id="270" r:id="rId6"/>
    <p:sldId id="329" r:id="rId7"/>
    <p:sldId id="337" r:id="rId8"/>
    <p:sldId id="273" r:id="rId9"/>
    <p:sldId id="338" r:id="rId10"/>
    <p:sldId id="278" r:id="rId11"/>
    <p:sldId id="282" r:id="rId12"/>
    <p:sldId id="339" r:id="rId13"/>
    <p:sldId id="340" r:id="rId14"/>
    <p:sldId id="283" r:id="rId15"/>
    <p:sldId id="342" r:id="rId16"/>
    <p:sldId id="341" r:id="rId17"/>
    <p:sldId id="299" r:id="rId18"/>
    <p:sldId id="301" r:id="rId19"/>
    <p:sldId id="300" r:id="rId20"/>
    <p:sldId id="302" r:id="rId21"/>
    <p:sldId id="343" r:id="rId22"/>
    <p:sldId id="344" r:id="rId23"/>
    <p:sldId id="345" r:id="rId24"/>
    <p:sldId id="348" r:id="rId25"/>
    <p:sldId id="349" r:id="rId26"/>
    <p:sldId id="346" r:id="rId27"/>
    <p:sldId id="347" r:id="rId28"/>
    <p:sldId id="324" r:id="rId29"/>
    <p:sldId id="325" r:id="rId30"/>
    <p:sldId id="326" r:id="rId31"/>
    <p:sldId id="331" r:id="rId32"/>
    <p:sldId id="334" r:id="rId33"/>
    <p:sldId id="336" r:id="rId34"/>
    <p:sldId id="351" r:id="rId41"/>
    <p:sldId id="352" r:id="rId42"/>
    <p:sldId id="35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95" autoAdjust="0"/>
    <p:restoredTop sz="94660"/>
  </p:normalViewPr>
  <p:slideViewPr>
    <p:cSldViewPr snapToGrid="0">
      <p:cViewPr>
        <p:scale>
          <a:sx n="75" d="100"/>
          <a:sy n="75" d="100"/>
        </p:scale>
        <p:origin x="1416" y="5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2F805-4DAF-4B12-8D58-CC93CA5E06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B0B4B-F5D1-4834-B67F-D281F17C5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83850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0A0E6-AAFC-4CE4-AB44-B7D812F358C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CE76-37BA-493A-AA5D-A52B4950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560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2135D-AB49-5656-9963-336102E707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6575" y="183942"/>
            <a:ext cx="658425" cy="6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36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8239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861774"/>
          </a:xfr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882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861774"/>
          </a:xfr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320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2342896" y="1825751"/>
            <a:ext cx="7506208" cy="2606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45662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379984" y="245363"/>
            <a:ext cx="1127759" cy="8747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7035" y="1328394"/>
            <a:ext cx="1099792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0449" y="6478625"/>
            <a:ext cx="916092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09353" y="6578734"/>
            <a:ext cx="1432560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47535" y="6447704"/>
            <a:ext cx="30564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7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timing>
    <p:tnLst>
      <p:par>
        <p:cTn id="1" dur="indefinite" restart="never" nodeType="tmRoot"/>
      </p:par>
    </p:tnLst>
  </p:timing>
  <p:hf hd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486235" y="1397000"/>
            <a:ext cx="5664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Times New Roman"/>
                <a:cs typeface="Times New Roman"/>
              </a:rPr>
              <a:t>DEPARTMENT OF COMPUTER SCIENCE AND ENGINEERING AND ENGINEERING AND ENGINEERING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6595" y="2317298"/>
            <a:ext cx="10063479" cy="3084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5" name="object 5"/>
          <p:cNvSpPr/>
          <p:nvPr/>
        </p:nvSpPr>
        <p:spPr>
          <a:xfrm>
            <a:off x="556768" y="39623"/>
            <a:ext cx="11269472" cy="13319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7" name="object 7"/>
          <p:cNvSpPr/>
          <p:nvPr/>
        </p:nvSpPr>
        <p:spPr>
          <a:xfrm>
            <a:off x="0" y="1"/>
            <a:ext cx="12192000" cy="6844665"/>
          </a:xfrm>
          <a:custGeom>
            <a:avLst/>
            <a:gdLst/>
            <a:ahLst/>
            <a:cxnLst/>
            <a:rect l="l" t="t" r="r" b="b"/>
            <a:pathLst>
              <a:path w="9144000" h="6844665">
                <a:moveTo>
                  <a:pt x="0" y="6844283"/>
                </a:moveTo>
                <a:lnTo>
                  <a:pt x="9144000" y="6844283"/>
                </a:lnTo>
                <a:lnTo>
                  <a:pt x="9144000" y="0"/>
                </a:lnTo>
                <a:lnTo>
                  <a:pt x="0" y="0"/>
                </a:lnTo>
                <a:lnTo>
                  <a:pt x="0" y="6844283"/>
                </a:lnTo>
                <a:close/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r>
              <a:rPr lang="en-US">
                <a:solidFill>
                  <a:srgbClr val="FFFFFF"/>
                </a:solidFill>
                <a:latin typeface="Times New Roman"/>
                <a:cs typeface="Times New Roman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64CD-8CCB-A27A-12D2-171367C5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664899-66D2-4A24-5040-74AE8E8B7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035" y="1256467"/>
            <a:ext cx="11051625" cy="400110"/>
          </a:xfr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Addressing vulnerabilities in modern enterprise collaboration.</a:t>
            </a:r>
          </a:p>
          <a:p>
            <a:r>
              <a:rPr lang="en-US" sz="1800">
                <a:solidFill>
                  <a:srgbClr val="FFFFFF"/>
                </a:solidFill>
              </a:rPr>
              <a:t>• The problem of centralized trust risks and cloud service provider vulnerabilities.</a:t>
            </a:r>
          </a:p>
          <a:p>
            <a:r>
              <a:rPr lang="en-US" sz="1800">
                <a:solidFill>
                  <a:srgbClr val="FFFFFF"/>
                </a:solidFill>
              </a:rPr>
              <a:t>• Elimination of implicit trust models to protect proprietary data.</a:t>
            </a:r>
          </a:p>
          <a:p>
            <a:r>
              <a:rPr lang="en-US" sz="1800">
                <a:solidFill>
                  <a:srgbClr val="FFFFFF"/>
                </a:solidFill>
              </a:rPr>
              <a:t>• Implementation of strict client-side Zero-Knowledge Architecture.</a:t>
            </a:r>
          </a:p>
          <a:p>
            <a:r>
              <a:rPr lang="en-US" sz="1800">
                <a:solidFill>
                  <a:srgbClr val="FFFFFF"/>
                </a:solidFill>
              </a:rPr>
              <a:t>• Real-time encrypted synchronization using Conflict-Free Replicated Data Types (CRDTs).</a:t>
            </a:r>
          </a:p>
          <a:p>
            <a:r>
              <a:rPr lang="en-US" sz="1800">
                <a:solidFill>
                  <a:srgbClr val="FFFFFF"/>
                </a:solidFill>
              </a:rPr>
              <a:t>• Self-hosted deployment ensuring absolute data sovereignty for enterprises.</a:t>
            </a:r>
          </a:p>
          <a:p>
            <a:r>
              <a:rPr lang="en-US" sz="1800">
                <a:solidFill>
                  <a:srgbClr val="FFFFFF"/>
                </a:solidFill>
              </a:rPr>
              <a:t>• Objective: Highly secure, high-performance, and seamless confidential workflows.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6062D2-A93D-4931-5CDB-FC9DD06CC4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96180" y="349006"/>
            <a:ext cx="2476829" cy="553998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47247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B5A35-FDE5-DFEB-1EA2-8993AEB7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685D23-711B-1D8B-7374-22DB095D2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035" y="1328394"/>
            <a:ext cx="10997928" cy="430887"/>
          </a:xfr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Core technologies driving Trustline's secure architecture.</a:t>
            </a:r>
          </a:p>
          <a:p>
            <a:r>
              <a:rPr lang="en-US" sz="1800">
                <a:solidFill>
                  <a:srgbClr val="FFFFFF"/>
                </a:solidFill>
              </a:rPr>
              <a:t>• X3DH &amp; Double Ratchet: Advanced End-to-End Encryption ensuring forward and post-compromise secrecy.</a:t>
            </a:r>
          </a:p>
          <a:p>
            <a:r>
              <a:rPr lang="en-US" sz="1800">
                <a:solidFill>
                  <a:srgbClr val="FFFFFF"/>
                </a:solidFill>
              </a:rPr>
              <a:t>• Device Identity Signature: Cryptographic passwordless authentication eliminating credential theft.</a:t>
            </a:r>
          </a:p>
          <a:p>
            <a:r>
              <a:rPr lang="en-US" sz="1800">
                <a:solidFill>
                  <a:srgbClr val="FFFFFF"/>
                </a:solidFill>
              </a:rPr>
              <a:t>• SQLCipher &amp; Argon2id: Memory-hard local vault encryption providing extreme brute-force resistance.</a:t>
            </a:r>
          </a:p>
          <a:p>
            <a:r>
              <a:rPr lang="en-US" sz="1800">
                <a:solidFill>
                  <a:srgbClr val="FFFFFF"/>
                </a:solidFill>
              </a:rPr>
              <a:t>• Blind Router &amp; PostgreSQL RLS: Stateless message relaying with strict tenant-level isolation.</a:t>
            </a:r>
          </a:p>
          <a:p>
            <a:r>
              <a:rPr lang="en-US" sz="1800">
                <a:solidFill>
                  <a:srgbClr val="FFFFFF"/>
                </a:solidFill>
              </a:rPr>
              <a:t>• Synchronization Latency: ~110 ms</a:t>
            </a:r>
          </a:p>
          <a:p>
            <a:r>
              <a:rPr lang="en-US" sz="1800">
                <a:solidFill>
                  <a:srgbClr val="FFFFFF"/>
                </a:solidFill>
              </a:rPr>
              <a:t>• Authentication Latency: ~359 ms</a:t>
            </a:r>
          </a:p>
          <a:p>
            <a:r>
              <a:rPr lang="en-US" sz="1800">
                <a:solidFill>
                  <a:srgbClr val="FFFFFF"/>
                </a:solidFill>
              </a:rPr>
              <a:t/>
            </a:r>
          </a:p>
          <a:p>
            <a:r>
              <a:rPr lang="en-US" sz="1800">
                <a:solidFill>
                  <a:srgbClr val="FFFFFF"/>
                </a:solidFill>
              </a:rPr>
              <a:t>- Synchronization Latency: ~110 ms</a:t>
            </a:r>
          </a:p>
          <a:p>
            <a:r>
              <a:rPr lang="en-US" sz="1800">
                <a:solidFill>
                  <a:srgbClr val="FFFFFF"/>
                </a:solidFill>
              </a:rPr>
              <a:t xml:space="preserve">   - Authentication Latency: ~359 ms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6C8F6E-C403-3205-9CA1-085E9C6BC7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31323" y="349006"/>
            <a:ext cx="3995225" cy="553998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Abstract (Continued)</a:t>
            </a:r>
          </a:p>
        </p:txBody>
      </p:sp>
    </p:spTree>
    <p:extLst>
      <p:ext uri="{BB962C8B-B14F-4D97-AF65-F5344CB8AC3E}">
        <p14:creationId xmlns:p14="http://schemas.microsoft.com/office/powerpoint/2010/main" val="415485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ED0D-8FAE-1EFC-D229-45DE4BE5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E20AD8-C9C9-08E5-5A79-22A104A956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EF4604-6840-26B7-DCC0-88680EFE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545922"/>
              </p:ext>
            </p:extLst>
          </p:nvPr>
        </p:nvGraphicFramePr>
        <p:xfrm>
          <a:off x="454660" y="1351267"/>
          <a:ext cx="11548656" cy="43224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588">
                  <a:extLst>
                    <a:ext uri="{9D8B030D-6E8A-4147-A177-3AD203B41FA5}">
                      <a16:colId xmlns:a16="http://schemas.microsoft.com/office/drawing/2014/main" val="3021297087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865747701"/>
                    </a:ext>
                  </a:extLst>
                </a:gridCol>
                <a:gridCol w="2625213">
                  <a:extLst>
                    <a:ext uri="{9D8B030D-6E8A-4147-A177-3AD203B41FA5}">
                      <a16:colId xmlns:a16="http://schemas.microsoft.com/office/drawing/2014/main" val="724742859"/>
                    </a:ext>
                  </a:extLst>
                </a:gridCol>
                <a:gridCol w="2377126">
                  <a:extLst>
                    <a:ext uri="{9D8B030D-6E8A-4147-A177-3AD203B41FA5}">
                      <a16:colId xmlns:a16="http://schemas.microsoft.com/office/drawing/2014/main" val="4007349693"/>
                    </a:ext>
                  </a:extLst>
                </a:gridCol>
              </a:tblGrid>
              <a:tr h="43490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Author/Protocol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938571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Signal Protocol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X3DH &amp; Double Ratchet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Strong E2EE, Forward Secrecy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Poor group scaling, tied to phone numbers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6458602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Matrix Protocol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Decentralized Federated Sync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Open standard, self-hostable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Metadata leakage, complex key management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5002894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Yjs (CRDTs)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Distributed mathematical convergence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No central ordering server needed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State bloat over time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1298578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Zero Trust Arch.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Continuous verification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Mitigates lateral movement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Often lacks strong data encryption at rest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509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62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6F84-9178-1284-8664-CFEFAFB3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6EC51-B1D8-D791-049B-8DB6916937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Identified Research Gaps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EF4604-6840-26B7-DCC0-88680EFE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52794"/>
              </p:ext>
            </p:extLst>
          </p:nvPr>
        </p:nvGraphicFramePr>
        <p:xfrm>
          <a:off x="321671" y="1757667"/>
          <a:ext cx="11548656" cy="43224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588">
                  <a:extLst>
                    <a:ext uri="{9D8B030D-6E8A-4147-A177-3AD203B41FA5}">
                      <a16:colId xmlns:a16="http://schemas.microsoft.com/office/drawing/2014/main" val="3021297087"/>
                    </a:ext>
                  </a:extLst>
                </a:gridCol>
                <a:gridCol w="31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865747701"/>
                    </a:ext>
                  </a:extLst>
                </a:gridCol>
                <a:gridCol w="2625213">
                  <a:extLst>
                    <a:ext uri="{9D8B030D-6E8A-4147-A177-3AD203B41FA5}">
                      <a16:colId xmlns:a16="http://schemas.microsoft.com/office/drawing/2014/main" val="724742859"/>
                    </a:ext>
                  </a:extLst>
                </a:gridCol>
                <a:gridCol w="2377126">
                  <a:extLst>
                    <a:ext uri="{9D8B030D-6E8A-4147-A177-3AD203B41FA5}">
                      <a16:colId xmlns:a16="http://schemas.microsoft.com/office/drawing/2014/main" val="4007349693"/>
                    </a:ext>
                  </a:extLst>
                </a:gridCol>
              </a:tblGrid>
              <a:tr h="43490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938571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6458602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5002894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1298578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509135"/>
                  </a:ext>
                </a:extLst>
              </a:tr>
            </a:tbl>
          </a:graphicData>
        </a:graphic>
      </p:graphicFrame>
      <p:sp>
        <p:nvSpPr>
          <p:cNvPr id="10f792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Limitations of existing platforms and how Trustline addresses them.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Metadata Leakage: Current systems expose sender/receiver relationships and timestamps to central servers.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Centralized Trust: Relying on third-party cloud providers creates massive single points of failure.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Weak Tenant Isolation: Shared databases often lack cryptographic segregation between organizations.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Poor Offline Synchronization: Inability to seamlessly merge concurrent edits when disconnected.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Lack of Forward Secrecy in Collaboration: Traditional collaborative editors rely on central servers to decrypt and route real-time changes.</a:t>
            </a:r>
          </a:p>
        </p:txBody>
      </p:sp>
    </p:spTree>
    <p:extLst>
      <p:ext uri="{BB962C8B-B14F-4D97-AF65-F5344CB8AC3E}">
        <p14:creationId xmlns:p14="http://schemas.microsoft.com/office/powerpoint/2010/main" val="193386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DD13-EFB6-8350-7096-A97CF7FA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7956E3-0E44-F95E-CFBE-F2F67FF3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716" y="1823884"/>
            <a:ext cx="9616162" cy="384721"/>
          </a:xfr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The inherent insecurity of centralized enterprise tools.</a:t>
            </a:r>
          </a:p>
          <a:p>
            <a:r>
              <a:rPr lang="en-US" sz="1800">
                <a:solidFill>
                  <a:srgbClr val="FFFFFF"/>
                </a:solidFill>
              </a:rPr>
              <a:t>• Implicit Trust &amp; Lateral Movement: Traditional firewalls fail when the network is breached.</a:t>
            </a:r>
          </a:p>
          <a:p>
            <a:r>
              <a:rPr lang="en-US" sz="1800">
                <a:solidFill>
                  <a:srgbClr val="FFFFFF"/>
                </a:solidFill>
              </a:rPr>
              <a:t>• Cloud Privacy Risks: Providers holding decryption keys become high-value targets.</a:t>
            </a:r>
          </a:p>
          <a:p>
            <a:r>
              <a:rPr lang="en-US" sz="1800">
                <a:solidFill>
                  <a:srgbClr val="FFFFFF"/>
                </a:solidFill>
              </a:rPr>
              <a:t>• Insider Threats: Administrators have unfettered access to plain-text databases.</a:t>
            </a:r>
          </a:p>
          <a:p>
            <a:r>
              <a:rPr lang="en-US" sz="1800">
                <a:solidFill>
                  <a:srgbClr val="FFFFFF"/>
                </a:solidFill>
              </a:rPr>
              <a:t>• Metadata Exposure: Traffic analysis profiles users even when payload data is encrypted.</a:t>
            </a:r>
          </a:p>
          <a:p>
            <a:r>
              <a:rPr lang="en-US" sz="1800">
                <a:solidFill>
                  <a:srgbClr val="FFFFFF"/>
                </a:solidFill>
              </a:rPr>
              <a:t>• Authentication Weaknesses: Passwords and legacy 2FA are vulnerable to phishing and GPU cracking.</a:t>
            </a:r>
          </a:p>
          <a:p>
            <a:r>
              <a:rPr lang="en-US" sz="1800">
                <a:solidFill>
                  <a:srgbClr val="FFFFFF"/>
                </a:solidFill>
              </a:rPr>
              <a:t>• Enterprise Sovereignty: Organizations lose absolute control over their sensitive IP.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EA0091-461D-6699-002E-CD73DE6A8C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29077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1454-9C85-4BF9-8993-D0C249F4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B0B8BC-0832-B78B-75B6-0A9029B63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826" y="1626250"/>
            <a:ext cx="11728174" cy="353943"/>
          </a:xfr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The foundational goals of the Trustline platform.</a:t>
            </a:r>
          </a:p>
          <a:p>
            <a:r>
              <a:rPr lang="en-US" sz="1800">
                <a:solidFill>
                  <a:srgbClr val="FFFFFF"/>
                </a:solidFill>
              </a:rPr>
              <a:t>• Implement true Zero-Knowledge communication where servers cannot read data.</a:t>
            </a:r>
          </a:p>
          <a:p>
            <a:r>
              <a:rPr lang="en-US" sz="1800">
                <a:solidFill>
                  <a:srgbClr val="FFFFFF"/>
                </a:solidFill>
              </a:rPr>
              <a:t>• Develop a "Blind Routing" backend that relays encrypted packets without inspecting content.</a:t>
            </a:r>
          </a:p>
          <a:p>
            <a:r>
              <a:rPr lang="en-US" sz="1800">
                <a:solidFill>
                  <a:srgbClr val="FFFFFF"/>
                </a:solidFill>
              </a:rPr>
              <a:t>• Integrate highly secure, cryptographic challenge-response authentication avoiding passwords.</a:t>
            </a:r>
          </a:p>
          <a:p>
            <a:r>
              <a:rPr lang="en-US" sz="1800">
                <a:solidFill>
                  <a:srgbClr val="FFFFFF"/>
                </a:solidFill>
              </a:rPr>
              <a:t>• Enable encrypted real-time synchronization without relying on a central authority.</a:t>
            </a:r>
          </a:p>
          <a:p>
            <a:r>
              <a:rPr lang="en-US" sz="1800">
                <a:solidFill>
                  <a:srgbClr val="FFFFFF"/>
                </a:solidFill>
              </a:rPr>
              <a:t>• Guarantee forward secrecy and post-compromise security for all communication.</a:t>
            </a:r>
          </a:p>
          <a:p>
            <a:r>
              <a:rPr lang="en-US" sz="1800">
                <a:solidFill>
                  <a:srgbClr val="FFFFFF"/>
                </a:solidFill>
              </a:rPr>
              <a:t>• Provide a fully self-hosted infrastructure for complete enterprise control.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7471F7-840E-B4F9-5DF3-A8A87BF997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Objectives of the Study</a:t>
            </a:r>
          </a:p>
        </p:txBody>
      </p:sp>
    </p:spTree>
    <p:extLst>
      <p:ext uri="{BB962C8B-B14F-4D97-AF65-F5344CB8AC3E}">
        <p14:creationId xmlns:p14="http://schemas.microsoft.com/office/powerpoint/2010/main" val="416776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6E421-6422-A7BA-8239-569214DE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B11452-486A-E03F-0733-C27749F373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88635" y="468278"/>
            <a:ext cx="5804452" cy="984885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Proposed Overall Architecture</a:t>
            </a:r>
          </a:p>
        </p:txBody>
      </p:sp>
      <p:sp>
        <p:nvSpPr>
          <p:cNvPr id="10c287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</a:rPr>
              <a:t>Multi-tier secure architecture of Trustline.</a:t>
            </a:r>
          </a:p>
        </p:txBody>
      </p:sp>
      <p:sp>
        <p:nvSpPr>
          <p:cNvPr id="103e50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[ CLIENT DEVICE (Secure) ]             [ UNTRUSTED NETWORK ]            [ BACKEND (Blind)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+-----------------------+              +-------------------+            +-----------------+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 User Interface (UI)  |              |                   |            |  Rust / Axum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      (React)         |              |                   |            |  Relay Server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+-----------+-----------+              |                   |            +--------+--------+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|                          |                   |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+-----------v-----------+              |                   |            +--------v--------+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 Tauri Rust Runtime   |              |                   |            | NATS JetStream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(Crypto Operations)   |              |                   |            | (Msg Routing)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+-----------+-----------+              |                   |            +--------+--------+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|                          |                   |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+-----------v-----------+      (Encrypted Blobs)           |            +--------v--------+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  SQLCipher Vault     | &lt;===========================================&gt; | PostgreSQL DB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(Local Decrypted DB)  |              |                   |            | (RLS Isolated)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+-----------------------+              +-------------------+            +-----------------+</a:t>
            </a:r>
          </a:p>
        </p:txBody>
      </p:sp>
      <p:sp>
        <p:nvSpPr>
          <p:cNvPr id="102911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[ CLIENT DEVICE (Secure) ]             [ UNTRUSTED NETWORK ]            [ BACKEND (Blind)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+-----------------------+              +-------------------+            +-----------------+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 User Interface (UI)  |              |                   |            |  Rust / Axum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      (React)         |              |                   |            |  Relay Server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+-----------+-----------+              |                   |            +--------+--------+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|                          |                   |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+-----------v-----------+              |                   |            +--------v--------+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 Tauri Rust Runtime   |              |                   |            | NATS JetStream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(Crypto Operations)   |              |                   |            | (Msg Routing)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+-----------+-----------+              |                   |            +--------+--------+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|                          |                   |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+-----------v-----------+      (Encrypted Blobs)           |            +--------v--------+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  SQLCipher Vault     | &lt;===========================================&gt; | PostgreSQL DB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| (Local Decrypted DB)  |              |                   |            | (RLS Isolated)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>+-----------------------+              +-------------------+            +-----------------+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301632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6D7BC-0018-8CD9-D8DC-13F0884E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FD5B14-2EA5-B0D3-10AF-28A9B77D8E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5009" y="1313103"/>
            <a:ext cx="10426148" cy="1415772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1 - Cryptographic Key Exchange</a:t>
            </a:r>
          </a:p>
        </p:txBody>
      </p:sp>
      <p:sp>
        <p:nvSpPr>
          <p:cNvPr id="102de6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</a:rPr>
              <a:t>Establishing trust in a Zero-Knowledge environment.</a:t>
            </a:r>
          </a:p>
        </p:txBody>
      </p:sp>
      <p:sp>
        <p:nvSpPr>
          <p:cNvPr id="107857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ALICE (SENDER)                    TRUSTLINE SERVER                    BOB (RECIPIENT)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+------------+                    +--------------+                    +-------------+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&lt;--- [1. Upload Pre-Keys] -------|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(IK_b, SPK_b, OPKs)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--- [2. Fetch Bob's Keys] ------&gt;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&lt;--- (IK_b, SPK_b, OPK_b1) ------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[3. LOCAL MATH]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Generate EK_a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DH1 = (IK_a, SPK_b)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DH2 = (EK_a, IK_b)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DH3 = (EK_a, SPK_b)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DH4 = (EK_a, OPK_b1)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SECRET = HKDF(DH1-4)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--- [4. Encrypted Msg] ---------&gt;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(Ciphertext + EK_a)          | --- [5. Blind Route] ----------&gt;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[6. LOCAL MATH]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Derive SAME Secret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Decrypt &amp; Sync</a:t>
            </a:r>
          </a:p>
        </p:txBody>
      </p:sp>
      <p:sp>
        <p:nvSpPr>
          <p:cNvPr id="10671f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ALICE (SENDER)                    TRUSTLINE SERVER                    BOB (RECIPIENT)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+------------+                    +--------------+                    +-------------+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&lt;--- [1. Upload Pre-Keys] -------|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(IK_b, SPK_b, OPKs)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--- [2. Fetch Bob's Keys] ------&gt;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&lt;--- (IK_b, SPK_b, OPK_b1) ------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[3. LOCAL MATH]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Generate EK_a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DH1 = (IK_a, SPK_b)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DH2 = (EK_a, IK_b)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DH3 = (EK_a, SPK_b)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DH4 = (EK_a, OPK_b1)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SECRET = HKDF(DH1-4)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--- [4. Encrypted Msg] ---------&gt;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(Ciphertext + EK_a)          | --- [5. Blind Route] ----------&gt;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[6. LOCAL MATH]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Derive SAME Secret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|                                   |                          Decrypt &amp; Sync</a:t>
            </a:r>
          </a:p>
        </p:txBody>
      </p:sp>
    </p:spTree>
    <p:extLst>
      <p:ext uri="{BB962C8B-B14F-4D97-AF65-F5344CB8AC3E}">
        <p14:creationId xmlns:p14="http://schemas.microsoft.com/office/powerpoint/2010/main" val="212428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8550-71CC-C58F-C154-2FD27337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B841F-3ACD-15CF-FE2E-95E9E15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8" y="1883668"/>
            <a:ext cx="10982099" cy="1831271"/>
          </a:xfrm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</a:rPr>
              <a:t>Continuous security for ongoing communication sessions.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BCA3A-2FCD-D74F-AB63-38939102E7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2779" y="998765"/>
            <a:ext cx="9183757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1 - Double Ratchet Protocol</a:t>
            </a:r>
          </a:p>
        </p:txBody>
      </p:sp>
      <p:sp>
        <p:nvSpPr>
          <p:cNvPr id="10a01f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[ ROOT CHAIN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+-----+-----+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|  DH STEP  | (New DH exchange per round-trip)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+-----+-----+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+-------------------------------------------+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       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[ SENDING CHAIN ]                           [ RECEIVING CHAIN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       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+-------v-------+                           +-------v-------+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| KDF-SEND (n)  |                           | KDF-RECV (m)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+-------+-------+                           +-------+-------+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       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+-------v-------+                           +-------v-------+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|  MESSAGE KEY  |                           |  MESSAGE KEY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| (One-Time)    |                           | (One-Time)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+---------------+                           +---------------+</a:t>
            </a:r>
          </a:p>
        </p:txBody>
      </p:sp>
      <p:sp>
        <p:nvSpPr>
          <p:cNvPr id="10d495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[ ROOT CHAIN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+-----+-----+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|  DH STEP  | (New DH exchange per round-trip)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+-----+-----+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+-------------------------------------------+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       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[ SENDING CHAIN ]                           [ RECEIVING CHAIN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       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+-------v-------+                           +-------v-------+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| KDF-SEND (n)  |                           | KDF-RECV (m)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+-------+-------+                           +-------+-------+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       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+-------v-------+                           +-------v-------+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|  MESSAGE KEY  |                           |  MESSAGE KEY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| (One-Time)    |                           | (One-Time)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+---------------+                           +---------------+</a:t>
            </a:r>
          </a:p>
        </p:txBody>
      </p:sp>
      <p:sp>
        <p:nvSpPr>
          <p:cNvPr id="1048fa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[ ROOT CHAIN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+-----+-----+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|  DH STEP  | (New DH exchange per round-trip)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+-----+-----+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+-------------------------------------------+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       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[ SENDING CHAIN ]                           [ RECEIVING CHAIN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       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+-------v-------+                           +-------v-------+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| KDF-SEND (n)  |                           | KDF-RECV (m)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+-------+-------+                           +-------+-------+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|       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+-------v-------+                           +-------v-------+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|  MESSAGE KEY  |                           |  MESSAGE KEY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| (One-Time)    |                           | (One-Time)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+---------------+                           +---------------+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05606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2 - Blind Router Backend</a:t>
            </a:r>
          </a:p>
        </p:txBody>
      </p:sp>
      <p:sp>
        <p:nvSpPr>
          <p:cNvPr id="1019f0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A server that routes, but cannot read.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Axum/Tokio Backend: High-concurrency Rust server handling thousands of parallel connections.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Encrypted WebSocket Relay: Providing the real-time transport layer for E2EE blobs.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Stateless Routing: The server holds no decryption keys and maintains no plaintext message state.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Zero Plaintext Visibility: Eliminating the risk of backend database breaches exposing user chat history.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Packet Forwarding Workflow: Routing via NATS JetStream based on ephemeral metadata identifiers.</a:t>
            </a:r>
          </a:p>
        </p:txBody>
      </p:sp>
    </p:spTree>
    <p:extLst>
      <p:ext uri="{BB962C8B-B14F-4D97-AF65-F5344CB8AC3E}">
        <p14:creationId xmlns:p14="http://schemas.microsoft.com/office/powerpoint/2010/main" val="13430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8550-71CC-C58F-C154-2FD27337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7B841F-3ACD-15CF-FE2E-95E9E15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8" y="1883668"/>
            <a:ext cx="10982099" cy="1831271"/>
          </a:xfrm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</a:rPr>
              <a:t>Enforcing strict tenant boundaries using PostgreSQL.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BCA3A-2FCD-D74F-AB63-38939102E7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2779" y="998765"/>
            <a:ext cx="9183757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2 - Enterprise Data Segregation</a:t>
            </a:r>
          </a:p>
        </p:txBody>
      </p:sp>
      <p:sp>
        <p:nvSpPr>
          <p:cNvPr id="1005e1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[ INCOMING QUERY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 SET LOCAL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app.current_org_id| &lt;--- (Assigned per session/request)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POSTGRES ENGINE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(RLS Enforcement)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_________v_________________________________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DATABASE ROWS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[Org A Data] &lt;--- [ ACCESS GRANTED ]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[Org B Data] &lt;--- [ ACCESS DENIED ]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|___________________________________________|</a:t>
            </a:r>
          </a:p>
        </p:txBody>
      </p:sp>
      <p:sp>
        <p:nvSpPr>
          <p:cNvPr id="10f7ee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[ INCOMING QUERY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 SET LOCAL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app.current_org_id| &lt;--- (Assigned per session/request)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POSTGRES ENGINE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(RLS Enforcement)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_________v_________________________________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DATABASE ROWS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[Org A Data] &lt;--- [ ACCESS GRANTED ]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[Org B Data] &lt;--- [ ACCESS DENIED ]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|___________________________________________|</a:t>
            </a:r>
          </a:p>
        </p:txBody>
      </p:sp>
      <p:sp>
        <p:nvSpPr>
          <p:cNvPr id="10d12f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[ INCOMING QUERY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 SET LOCAL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app.current_org_id| &lt;--- (Assigned per session/request)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POSTGRES ENGINE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(RLS Enforcement)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_________v_________________________________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DATABASE ROWS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[Org A Data] &lt;--- [ ACCESS GRANTED ]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[Org B Data] &lt;--- [ ACCESS DENIED ]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|___________________________________________|</a:t>
            </a:r>
          </a:p>
        </p:txBody>
      </p:sp>
    </p:spTree>
    <p:extLst>
      <p:ext uri="{BB962C8B-B14F-4D97-AF65-F5344CB8AC3E}">
        <p14:creationId xmlns:p14="http://schemas.microsoft.com/office/powerpoint/2010/main" val="401448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3 - Cryptographic Authentication</a:t>
            </a:r>
          </a:p>
        </p:txBody>
      </p:sp>
      <p:sp>
        <p:nvSpPr>
          <p:cNvPr id="105f42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</a:rPr>
              <a:t>Passwordless security with Device Identity Signatures.</a:t>
            </a:r>
          </a:p>
        </p:txBody>
      </p:sp>
      <p:sp>
        <p:nvSpPr>
          <p:cNvPr id="108278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USER DEVICE (Hardware)               TRUSTLINE BACKEND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+--------------------+               +-------------------+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Browser/Tauri UI  |               |   webauthn-rs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               +---------+---------+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&lt;------- [1. Challenge] -----------|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 SECURE ENCLAVE   |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(Biometric Check)  |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-------- [2. Signed Auth] --------&gt;|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                               [3. VERIFY]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&lt;------- [4. JWT Issued] ----------|</a:t>
            </a:r>
          </a:p>
        </p:txBody>
      </p:sp>
      <p:sp>
        <p:nvSpPr>
          <p:cNvPr id="106c6d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USER DEVICE (Hardware)               TRUSTLINE BACKEND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+--------------------+               +-------------------+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Browser/Tauri UI  |               |   webauthn-rs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               +---------+---------+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&lt;------- [1. Challenge] -----------|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 SECURE ENCLAVE   |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(Biometric Check)  |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-------- [2. Signed Auth] --------&gt;|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      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                               [3. VERIFY]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 &lt;------- [4. JWT Issued] ----------|</a:t>
            </a:r>
          </a:p>
        </p:txBody>
      </p:sp>
    </p:spTree>
    <p:extLst>
      <p:ext uri="{BB962C8B-B14F-4D97-AF65-F5344CB8AC3E}">
        <p14:creationId xmlns:p14="http://schemas.microsoft.com/office/powerpoint/2010/main" val="189053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F4AC-124D-B0ED-A4D2-B95A3843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1BD02-31E0-B40F-19CB-D842E2C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7" y="1854851"/>
            <a:ext cx="9026013" cy="430887"/>
          </a:xfr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Protecting data at rest on client devices.</a:t>
            </a:r>
          </a:p>
          <a:p>
            <a:r>
              <a:rPr lang="en-US" sz="1800">
                <a:solidFill>
                  <a:srgbClr val="FFFFFF"/>
                </a:solidFill>
              </a:rPr>
              <a:t>• Secure Key Derivation: Utilizing Argon2id for deriving robust encryption keys from user credentials.</a:t>
            </a:r>
          </a:p>
          <a:p>
            <a:r>
              <a:rPr lang="en-US" sz="1800">
                <a:solidFill>
                  <a:srgbClr val="FFFFFF"/>
                </a:solidFill>
              </a:rPr>
              <a:t>• Memory-Hard Function: Defending against highly parallelized GPU/ASIC cracking arrays.</a:t>
            </a:r>
          </a:p>
          <a:p>
            <a:r>
              <a:rPr lang="en-US" sz="1800">
                <a:solidFill>
                  <a:srgbClr val="FFFFFF"/>
                </a:solidFill>
              </a:rPr>
              <a:t>• Vault Encryption: Encrypting the entire local SQLite database using SQLCipher.</a:t>
            </a:r>
          </a:p>
          <a:p>
            <a:r>
              <a:rPr lang="en-US" sz="1800">
                <a:solidFill>
                  <a:srgbClr val="FFFFFF"/>
                </a:solidFill>
              </a:rPr>
              <a:t>• Rapid Indexed Search: Implementing FTS5 over decrypted data in memory for instant query responses.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A3BF8-C665-FB3A-3EC1-07A0682B7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3 - Secure Local Persistence</a:t>
            </a:r>
          </a:p>
        </p:txBody>
      </p:sp>
    </p:spTree>
    <p:extLst>
      <p:ext uri="{BB962C8B-B14F-4D97-AF65-F5344CB8AC3E}">
        <p14:creationId xmlns:p14="http://schemas.microsoft.com/office/powerpoint/2010/main" val="95154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4 - Distributed Encrypted Synchronization</a:t>
            </a:r>
          </a:p>
        </p:txBody>
      </p:sp>
      <p:sp>
        <p:nvSpPr>
          <p:cNvPr id="10a847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Collaborative editing without a central authority.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Yjs Synchronization Workflow: Implementing Conflict-Free Replicated Data Types (CRDTs).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Delta Synchronization: Efficiently calculating and transmitting only the state changes, not entire documents.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Encrypted Collaborative Editing: All CRDT update payloads are encapsulated within AES-256-GCM encryption before transmission.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Offline-First Architecture: Users can continue working offline; CRDTs mathematically merge all edits upon reconnection.</a:t>
            </a:r>
          </a:p>
        </p:txBody>
      </p:sp>
    </p:spTree>
    <p:extLst>
      <p:ext uri="{BB962C8B-B14F-4D97-AF65-F5344CB8AC3E}">
        <p14:creationId xmlns:p14="http://schemas.microsoft.com/office/powerpoint/2010/main" val="302675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F4AC-124D-B0ED-A4D2-B95A3843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F1BD02-31E0-B40F-19CB-D842E2C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7" y="1854851"/>
            <a:ext cx="9026013" cy="430887"/>
          </a:xfr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Enterprise control over edge devices.</a:t>
            </a:r>
          </a:p>
          <a:p>
            <a:r>
              <a:rPr lang="en-US" sz="1800">
                <a:solidFill>
                  <a:srgbClr val="FFFFFF"/>
                </a:solidFill>
              </a:rPr>
              <a:t>• Secure Device Onboarding: Cryptographic verification required when adding new devices to an account.</a:t>
            </a:r>
          </a:p>
          <a:p>
            <a:r>
              <a:rPr lang="en-US" sz="1800">
                <a:solidFill>
                  <a:srgbClr val="FFFFFF"/>
                </a:solidFill>
              </a:rPr>
              <a:t>• Encrypted Storage Management: Local handling of cryptographic materials and encrypted caches.</a:t>
            </a:r>
          </a:p>
          <a:p>
            <a:r>
              <a:rPr lang="en-US" sz="1800">
                <a:solidFill>
                  <a:srgbClr val="FFFFFF"/>
                </a:solidFill>
              </a:rPr>
              <a:t>• Remote Wipe Capabilities: Administrators can securely invalidate device sessions and trigger local vault destruction.</a:t>
            </a:r>
          </a:p>
          <a:p>
            <a:r>
              <a:rPr lang="en-US" sz="1800">
                <a:solidFill>
                  <a:srgbClr val="FFFFFF"/>
                </a:solidFill>
              </a:rPr>
              <a:t>• Shamir's Secret Sharing: Securely partitioning recovery keys to prevent single-point compromise.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A3BF8-C665-FB3A-3EC1-07A0682B7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4 - Device &amp; Vault Management</a:t>
            </a:r>
          </a:p>
        </p:txBody>
      </p:sp>
    </p:spTree>
    <p:extLst>
      <p:ext uri="{BB962C8B-B14F-4D97-AF65-F5344CB8AC3E}">
        <p14:creationId xmlns:p14="http://schemas.microsoft.com/office/powerpoint/2010/main" val="205894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DA58-8EA9-45DC-10E5-946F1E0A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0A6C27-4612-9473-55DD-B656EA7670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53749" y="1024869"/>
            <a:ext cx="7474226" cy="3693319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Experimental Results &amp; Benchmarks</a:t>
            </a:r>
          </a:p>
        </p:txBody>
      </p:sp>
      <p:sp>
        <p:nvSpPr>
          <p:cNvPr id="10bb6f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Validating performance in high-security configurations.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High Throughput: Successful routing of encrypted payloads under enterprise-grade load.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Negligible Encryption Overhead: Rust-based AES-GCM executing in microseconds.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Robust Scalability: NATS JetStream efficiently managing high-concurrency group synchronization.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Synchronization Latency: ~110 ms (well below the 250 ms target for real-time feel).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Authentication Latency: ~359 ms (fast, frictionless login).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GPU Brute-Force Resistance: Estimated ~112,700 years to crack the local vault key.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/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- Synchronization Latency: ~110 ms (well below the 250 ms target for real-time feel).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 xml:space="preserve">   - Authentication Latency: ~359 ms (fast, frictionless login).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 xml:space="preserve">   - GPU Brute-Force Resistance: Estimated ~112,700 years to crack the local vault key.</a:t>
            </a:r>
          </a:p>
        </p:txBody>
      </p:sp>
    </p:spTree>
    <p:extLst>
      <p:ext uri="{BB962C8B-B14F-4D97-AF65-F5344CB8AC3E}">
        <p14:creationId xmlns:p14="http://schemas.microsoft.com/office/powerpoint/2010/main" val="232088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6B61-97FA-A841-394F-EED0F9B4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53F23D-204C-8356-2572-A4D3FEBC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168" y="1918649"/>
            <a:ext cx="10509331" cy="3416320"/>
          </a:xfrm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Component | Client Device (Desktop/Mobile) | Relay Server (Self-Hosted)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Processor | Modern CPU with AES-NI support | 4+ Cores (e.g., Xeon/EPYC)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RAM | 4 GB minimum (App uses &lt; 100MB) | 16 GB minimum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Storage | 500 MB (SSD recommended) | 50 GB NVMe (Database/Logs)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Security | TPM 2.0 / Apple Secure Enclave | Standard Server Environment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039DFF-14C8-7288-891C-1C4A68434F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Hardware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342676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CBA80-C236-20C4-6E5A-A43C1A05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9BBB8D-17E6-CCB2-9555-5837D05E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723" y="1390165"/>
            <a:ext cx="11628782" cy="5386090"/>
          </a:xfrm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Layer | Technology Used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Frontend Framework | React 19, TypeScript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Desktop Runtime | Tauri v2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Cryptography Core | Rust (`crypto_core`, libsodium)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Backend Relay | Rust (Axum, Tokio)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Message Broker | NATS JetStream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Database / Vault | PostgreSQL (Server), SQLCipher (Client)</a:t>
            </a:r>
          </a:p>
          <a:p>
            <a:r>
              <a:rPr lang="en-US" sz="1400">
                <a:solidFill>
                  <a:srgbClr val="FFFFFF"/>
                </a:solidFill>
                <a:latin typeface="Courier New"/>
                <a:cs typeface="Courier New"/>
              </a:rPr>
              <a:t>Containerization | Docker, Kubernetes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4D5817-BD82-E71C-7FE8-3FF3F3F07E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80930" y="416770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Software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33573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Infrastructure Stack Summary</a:t>
            </a:r>
          </a:p>
        </p:txBody>
      </p:sp>
      <p:sp>
        <p:nvSpPr>
          <p:cNvPr id="103b54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Complete overview of the deployment ecosystem.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Client Tier: Native OS integration via Tauri, providing deep hardware access while maintaining a web-based presentation layer.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Execution Tier: Rust-based memory-safe cryptography isolates sensitive operations from JavaScript contexts.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Network Tier: Encrypted WebSocket connections relaying data through NATS message queues.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Persistence Tier: Highly segregated PostgreSQL databases enforcing RLS at the foundational level.</a:t>
            </a:r>
          </a:p>
        </p:txBody>
      </p:sp>
    </p:spTree>
    <p:extLst>
      <p:ext uri="{BB962C8B-B14F-4D97-AF65-F5344CB8AC3E}">
        <p14:creationId xmlns:p14="http://schemas.microsoft.com/office/powerpoint/2010/main" val="364398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Data Collection &amp; Testing Simulation</a:t>
            </a:r>
          </a:p>
        </p:txBody>
      </p:sp>
      <p:sp>
        <p:nvSpPr>
          <p:cNvPr id="106f83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Methodology for evaluating platform limits.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Enterprise Traffic Simulation: Generating high-volume concurrent WebSocket connections mimicking peak organizational activity.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Synchronization Testing: Analyzing CRDT convergence using datasets like DISCO chat logs to validate state consistency.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Authentication Testing: Verifying cryptographic challenge-response flows and validating Argon2id resistance against large-scale dictionary attacks (e.g., RockYou dataset).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Network Analysis: Utilizing CIC-IDS2017 profiles to ensure metadata opacity and prevent traffic analysis.</a:t>
            </a:r>
          </a:p>
        </p:txBody>
      </p:sp>
    </p:spTree>
    <p:extLst>
      <p:ext uri="{BB962C8B-B14F-4D97-AF65-F5344CB8AC3E}">
        <p14:creationId xmlns:p14="http://schemas.microsoft.com/office/powerpoint/2010/main" val="266176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Data Characteristics</a:t>
            </a:r>
          </a:p>
        </p:txBody>
      </p:sp>
      <p:sp>
        <p:nvSpPr>
          <p:cNvPr id="102f96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Structure of data handled by the Trustline platform.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Encrypted Packets: Standardized JSON payloads wrapped in AES-256-GCM ciphertexts.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Metadata Streams: Ephemeral routing identifiers required for blind forwarding; completely stripped of context.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CRDT Synchronization Events: Small, incremental delta updates representing mathematical state changes.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Authentication Logs: Hardware-signed challenge-response assertions containing zero secret key material.</a:t>
            </a:r>
          </a:p>
        </p:txBody>
      </p:sp>
    </p:spTree>
    <p:extLst>
      <p:ext uri="{BB962C8B-B14F-4D97-AF65-F5344CB8AC3E}">
        <p14:creationId xmlns:p14="http://schemas.microsoft.com/office/powerpoint/2010/main" val="397922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1 Results - X3DH</a:t>
            </a:r>
          </a:p>
        </p:txBody>
      </p:sp>
      <p:sp>
        <p:nvSpPr>
          <p:cNvPr id="104c29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Validation of the initial key agreement phase.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Secure Session Establishment: 100% success rate in deriving identical shared secrets between clients.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Asynchronous Capability: Verified successful encryption payloads generated for completely offline recipients.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Key Exchange Validation: Mathematical verification of identity and ephemeral keys preventing MitM interception.</a:t>
            </a:r>
          </a:p>
        </p:txBody>
      </p:sp>
    </p:spTree>
    <p:extLst>
      <p:ext uri="{BB962C8B-B14F-4D97-AF65-F5344CB8AC3E}">
        <p14:creationId xmlns:p14="http://schemas.microsoft.com/office/powerpoint/2010/main" val="27022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1 Results - Double Ratchet</a:t>
            </a:r>
          </a:p>
        </p:txBody>
      </p:sp>
      <p:sp>
        <p:nvSpPr>
          <p:cNvPr id="100475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Validation of continuous session security.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Ratchet Synchronization Success: Flawless derivation of unique message keys without desynchronization.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Forward Secrecy Validation: Simulated key compromises successfully proved historical messages remained impenetrable.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Replay Attack Mitigation: Out-of-order or duplicated encrypted packets successfully rejected by the receiving ratchet chain.</a:t>
            </a:r>
          </a:p>
        </p:txBody>
      </p:sp>
    </p:spTree>
    <p:extLst>
      <p:ext uri="{BB962C8B-B14F-4D97-AF65-F5344CB8AC3E}">
        <p14:creationId xmlns:p14="http://schemas.microsoft.com/office/powerpoint/2010/main" val="170311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2 Results - Blind Routing</a:t>
            </a:r>
          </a:p>
        </p:txBody>
      </p:sp>
      <p:sp>
        <p:nvSpPr>
          <p:cNvPr id="107fb6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Validation of the Zero-Knowledge backend relay.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Zero Plaintext Exposure: Server memory dumps revealed absolutely zero plaintext user data during heavy load tests.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Secure Relay Performance: Axum routing maintained high throughput, managing thousands of active WebSocket streams effortlessly.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Blind Routing Validation: NATS successfully delivered all packets based solely on ephemeral destination UUIDs.</a:t>
            </a:r>
          </a:p>
        </p:txBody>
      </p:sp>
    </p:spTree>
    <p:extLst>
      <p:ext uri="{BB962C8B-B14F-4D97-AF65-F5344CB8AC3E}">
        <p14:creationId xmlns:p14="http://schemas.microsoft.com/office/powerpoint/2010/main" val="244983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2 Results - Tenant Isolation</a:t>
            </a:r>
          </a:p>
        </p:txBody>
      </p:sp>
      <p:sp>
        <p:nvSpPr>
          <p:cNvPr id="100446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</a:rPr>
              <a:t>Validation of database segregation.</a:t>
            </a:r>
          </a:p>
        </p:txBody>
      </p:sp>
      <p:sp>
        <p:nvSpPr>
          <p:cNvPr id="1026ba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[ INCOMING QUERY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 SET LOCAL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app.current_org_id| &lt;--- (Assigned per session/request)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POSTGRES ENGINE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(RLS Enforcement)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_________v_________________________________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DATABASE ROWS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[Org A Data] &lt;--- [ ACCESS GRANTED ]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[Org B Data] &lt;--- [ ACCESS DENIED ]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|___________________________________________|</a:t>
            </a:r>
          </a:p>
        </p:txBody>
      </p:sp>
      <p:sp>
        <p:nvSpPr>
          <p:cNvPr id="10b179" name="Body Placeholder"/>
          <p:cNvSpPr/>
          <p:nvPr>
            <p:ph type="body" idx="1"/>
          </p:nvPr>
        </p:nvSpPr>
        <p:spPr>
          <a:xfrm>
            <a:off x="457200" y="2000000"/>
            <a:ext cx="11277600" cy="40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[ INCOMING QUERY ]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 SET LOCAL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app.current_org_id| &lt;--- (Assigned per session/request)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+---------v----------+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 POSTGRES ENGINE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(RLS Enforcement)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+---------+----------+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 _________v_________________________________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DATABASE ROWS                      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[Org A Data] &lt;--- [ ACCESS GRANTED ]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 [Org B Data] &lt;--- [ ACCESS DENIED ]       |</a:t>
            </a:r>
          </a:p>
          <a:p>
            <a:r>
              <a:rPr lang="en-US" sz="1000">
                <a:solidFill>
                  <a:srgbClr val="FFFFFF"/>
                </a:solidFill>
                <a:latin typeface="Consolas"/>
                <a:cs typeface="Consolas"/>
              </a:rPr>
              <a:t xml:space="preserve">   |___________________________________________|</a:t>
            </a:r>
          </a:p>
        </p:txBody>
      </p:sp>
    </p:spTree>
    <p:extLst>
      <p:ext uri="{BB962C8B-B14F-4D97-AF65-F5344CB8AC3E}">
        <p14:creationId xmlns:p14="http://schemas.microsoft.com/office/powerpoint/2010/main" val="234221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3 Results - Authentication</a:t>
            </a:r>
          </a:p>
        </p:txBody>
      </p:sp>
      <p:sp>
        <p:nvSpPr>
          <p:cNvPr id="1089d2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Validation of device identity signature integration.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Challenge-Response Success Metrics: Instantaneous, secure authentication utilizing local cryptographic identities.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Device Verification: Seamless verification of the user's bound hardware, completely bypassing password entry.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Phishing Resistance: Successfully thwarted simulated relay attacks and domain-spoofing attempts.</a:t>
            </a:r>
          </a:p>
        </p:txBody>
      </p:sp>
    </p:spTree>
    <p:extLst>
      <p:ext uri="{BB962C8B-B14F-4D97-AF65-F5344CB8AC3E}">
        <p14:creationId xmlns:p14="http://schemas.microsoft.com/office/powerpoint/2010/main" val="129357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AE5D-D5C6-DDA9-D583-E136976A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23410F-0743-E139-F4D7-ABEBBD598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1052" y="1957978"/>
            <a:ext cx="9832258" cy="707886"/>
          </a:xfr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Validation of local storage security.</a:t>
            </a:r>
          </a:p>
          <a:p>
            <a:r>
              <a:rPr lang="en-US" sz="1800">
                <a:solidFill>
                  <a:srgbClr val="FFFFFF"/>
                </a:solidFill>
              </a:rPr>
              <a:t>• Argon2id Performance: Key derivation tuned for client hardware, balancing security against login delays.</a:t>
            </a:r>
          </a:p>
          <a:p>
            <a:r>
              <a:rPr lang="en-US" sz="1800">
                <a:solidFill>
                  <a:srgbClr val="FFFFFF"/>
                </a:solidFill>
              </a:rPr>
              <a:t>• Secure Vault Encryption: SQLCipher maintained strict integrity over the local SQLite database.</a:t>
            </a:r>
          </a:p>
          <a:p>
            <a:r>
              <a:rPr lang="en-US" sz="1800">
                <a:solidFill>
                  <a:srgbClr val="FFFFFF"/>
                </a:solidFill>
              </a:rPr>
              <a:t>• Brute-Force Resistance: Validated against massive dictionary attacks, projecting over 100,000 years to compromise a secure vault.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4E6E8B-8966-7F73-C372-41507A4E23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3 Results - Cryptographic Vault</a:t>
            </a:r>
          </a:p>
        </p:txBody>
      </p:sp>
    </p:spTree>
    <p:extLst>
      <p:ext uri="{BB962C8B-B14F-4D97-AF65-F5344CB8AC3E}">
        <p14:creationId xmlns:p14="http://schemas.microsoft.com/office/powerpoint/2010/main" val="339340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B69E8-6989-48EF-BCAE-E06D8811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CD210F-AF9B-A6EB-AC1D-174BFD1C0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465" y="2174287"/>
            <a:ext cx="10356574" cy="430887"/>
          </a:xfr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Validation of real-time distributed consistency.</a:t>
            </a:r>
          </a:p>
          <a:p>
            <a:r>
              <a:rPr lang="en-US" sz="1800">
                <a:solidFill>
                  <a:srgbClr val="FFFFFF"/>
                </a:solidFill>
              </a:rPr>
              <a:t>• Synchronization Latency: Maintained ultra-low latency (~110ms) across geographically distributed clients.</a:t>
            </a:r>
          </a:p>
          <a:p>
            <a:r>
              <a:rPr lang="en-US" sz="1800">
                <a:solidFill>
                  <a:srgbClr val="FFFFFF"/>
                </a:solidFill>
              </a:rPr>
              <a:t>• Encrypted Collaboration Results: Simultaneous editing functioned perfectly over the encrypted WebSocket tunnel.</a:t>
            </a:r>
          </a:p>
          <a:p>
            <a:r>
              <a:rPr lang="en-US" sz="1800">
                <a:solidFill>
                  <a:srgbClr val="FFFFFF"/>
                </a:solidFill>
              </a:rPr>
              <a:t>• Distributed Convergence Validation: Clients recovering from offline states successfully mathematically merged all pending updates flawlessly.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1145AD-E90B-2578-C0C1-0787E497C0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4 Results - CRDT Sync</a:t>
            </a:r>
          </a:p>
        </p:txBody>
      </p:sp>
    </p:spTree>
    <p:extLst>
      <p:ext uri="{BB962C8B-B14F-4D97-AF65-F5344CB8AC3E}">
        <p14:creationId xmlns:p14="http://schemas.microsoft.com/office/powerpoint/2010/main" val="52568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2A9BC-CD7A-450E-5394-BAC75EFE4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344" y="2026804"/>
            <a:ext cx="9772516" cy="353943"/>
          </a:xfr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Validation of administrative edge control.</a:t>
            </a:r>
          </a:p>
          <a:p>
            <a:r>
              <a:rPr lang="en-US" sz="1800">
                <a:solidFill>
                  <a:srgbClr val="FFFFFF"/>
                </a:solidFill>
              </a:rPr>
              <a:t>• Secure Multi-Device Sync: Flawless propagation of application state across desktop and mobile clients.</a:t>
            </a:r>
          </a:p>
          <a:p>
            <a:r>
              <a:rPr lang="en-US" sz="1800">
                <a:solidFill>
                  <a:srgbClr val="FFFFFF"/>
                </a:solidFill>
              </a:rPr>
              <a:t>• Secure Device Wipe Results: Remote revocation successfully destroyed local cryptographic materials instantaneously.</a:t>
            </a:r>
          </a:p>
          <a:p>
            <a:r>
              <a:rPr lang="en-US" sz="1800">
                <a:solidFill>
                  <a:srgbClr val="FFFFFF"/>
                </a:solidFill>
              </a:rPr>
              <a:t>• Vault Recovery Validation: Shamir's Secret Sharing successfully reconstructed vault access during simulated master device loss.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Module 4 Results - Device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2A9BC-CD7A-450E-5394-BAC75EFE4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382" y="1918649"/>
            <a:ext cx="10126478" cy="307777"/>
          </a:xfr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Summary of project achievements.</a:t>
            </a:r>
          </a:p>
          <a:p>
            <a:r>
              <a:rPr lang="en-US" sz="1800">
                <a:solidFill>
                  <a:srgbClr val="FFFFFF"/>
                </a:solidFill>
              </a:rPr>
              <a:t>• Validated the feasibility of high-performance, strictly Zero-Knowledge enterprise collaboration.</a:t>
            </a:r>
          </a:p>
          <a:p>
            <a:r>
              <a:rPr lang="en-US" sz="1800">
                <a:solidFill>
                  <a:srgbClr val="FFFFFF"/>
                </a:solidFill>
              </a:rPr>
              <a:t>• Proved that advanced cryptography (AES-GCM, Argon2id) does not hinder sub-250ms real-time synchronization constraints.</a:t>
            </a:r>
          </a:p>
          <a:p>
            <a:r>
              <a:rPr lang="en-US" sz="1800">
                <a:solidFill>
                  <a:srgbClr val="FFFFFF"/>
                </a:solidFill>
              </a:rPr>
              <a:t>• Successfully replaced weak password paradigms with highly secure, cryptographic challenge-response authentication.</a:t>
            </a:r>
          </a:p>
          <a:p>
            <a:r>
              <a:rPr lang="en-US" sz="1800">
                <a:solidFill>
                  <a:srgbClr val="FFFFFF"/>
                </a:solidFill>
              </a:rPr>
              <a:t>• Delivered a fully functional, self-hosted architecture guaranteeing digital sovereignty for enterprises.</a:t>
            </a:r>
          </a:p>
          <a:p>
            <a:r>
              <a:rPr lang="en-US" sz="1800">
                <a:solidFill>
                  <a:srgbClr val="FFFFFF"/>
                </a:solidFill>
              </a:rPr>
              <a:t>• Effectively protected extremely confidential workflows from lateral movement, cloud breaches, and insider threats.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r>
              <a:rPr lang="en-US" b="1" sz="320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10317e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The roadmap for continued development.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MLS Protocol Integration: Migrating from Signal's pairwise encryption to the IETF MLS standard for infinitely scalable secure group chats.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AI-Assisted Threat Detection: Implementing local, on-device AI models to detect malicious insider activity without breaking encryption.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Native Mobile App Support: Expanding from desktop (Tauri) to fully native iOS and Android environments.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Federated Deployments: Allowing independent Trustline enterprise servers to securely interoperate and collaborate.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Decentralized Identity: Integrating blockchain-based DID (Decentralized Identifiers) for cross-organizational trust.</a:t>
            </a:r>
          </a:p>
        </p:txBody>
      </p:sp>
    </p:spTree>
    <p:extLst>
      <p:ext uri="{BB962C8B-B14F-4D97-AF65-F5344CB8AC3E}">
        <p14:creationId xmlns:p14="http://schemas.microsoft.com/office/powerpoint/2010/main"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r>
              <a:rPr lang="en-US" b="1" sz="320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5ce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Academic and technical sources.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[1] K. Liang et al., "A Systematic Literature Review on the Implementation and..." MDPI Sensors, 2026.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[2] A. Smith, "Zero trust architecture for AI-powered cloud systems," WJARR, 2025.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[3] M. Cohn-Gordon et al., "A Formal Security Analysis of the Signal Messaging Protocol," IEEE European Symposium on Security and Privacy, 2017.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[4] W3C, "Web Authentication: An API for accessing Public Key Credentials Level 2," 2021.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[5] N. Preguiça et al., "Conflict-free Replicated Data Types (CRDTs)," 2018.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r>
              <a:rPr lang="en-US" b="1" sz="320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b185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Additional academic and technical sources.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[6] "The Complete Guide to Password Hashing: Argon2 vs Bcrypt vs Scrypt vs PBKDF2," 2026.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[7] "Encryption Algorithm Comparison: Performance, Security, and Use Cases," Stealth Cloud, 2026.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[8] "A Cloud Database based on AES 256 GCM Encryption," ResearchGate, 2021.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[9] S. K. Singh et al., "Evaluating Argon2 Adoption and Effectiveness in Real-World Software," arXiv, 2025.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[10] "PostgreSQL Row Level Security," PostgreSQL Global Development Group.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r>
              <a:rPr lang="en-US" b="1" sz="320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f50b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Targeted domains for project publication.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Potential Publication Areas: Applied Cryptography, Distributed Systems Security, Zero-Trust Enterprise Networks.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Target Conferences (Cybersecurity Domains):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IEEE Symposium on Security and Privacy (S&amp;P).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ACM Conference on Computer and Communications Security (CCS).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USENIX Security Symposium.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Key Contribution Focus: The novel combination of Blind Routing, CRDTs, and Argon2id for scalable E2EE.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r>
              <a:rPr lang="en-US" b="1" sz="320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dfc2" name="Body Placeholder"/>
          <p:cNvSpPr/>
          <p:nvPr>
            <p:ph type="body" idx="1"/>
          </p:nvPr>
        </p:nvSpPr>
        <p:spPr>
          <a:xfrm>
            <a:off x="457200" y="1500000"/>
            <a:ext cx="11277600" cy="4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Conclusion and Q&amp;A.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Questions &amp; Discussion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TRUSTLINE</a:t>
            </a:r>
          </a:p>
          <a:p>
            <a:r>
              <a:rPr lang="en-US" sz="1800">
                <a:solidFill>
                  <a:srgbClr val="FFFFFF"/>
                </a:solidFill>
                <a:latin typeface="Arial"/>
                <a:cs typeface="Arial"/>
              </a:rPr>
              <a:t>• Secure • Sovereign • Zero-Knowledge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rgbClr val="FFFFFF"/>
      </a:dk1>
      <a:lt1>
        <a:srgbClr val="081120"/>
      </a:lt1>
      <a:dk2>
        <a:srgbClr val="00D8FF"/>
      </a:dk2>
      <a:lt2>
        <a:srgbClr val="05070A"/>
      </a:lt2>
      <a:accent1>
        <a:srgbClr val="00D8FF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3EE6385-9107-4DD6-8965-E29BA5C6C8E1}" vid="{6D1B56FF-3199-4FF2-9F48-EF52C2803C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15309</TotalTime>
  <Words>173</Words>
  <Application>Microsoft Office PowerPoint</Application>
  <PresentationFormat>Widescreen</PresentationFormat>
  <Paragraphs>75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Bookman Uralic</vt:lpstr>
      <vt:lpstr>Calibri</vt:lpstr>
      <vt:lpstr>Castellar</vt:lpstr>
      <vt:lpstr>Times New Roman</vt:lpstr>
      <vt:lpstr>Trebuchet MS</vt:lpstr>
      <vt:lpstr>Wingdings</vt:lpstr>
      <vt:lpstr>Theme1</vt:lpstr>
      <vt:lpstr>DEPARTMENT OF COMPUTER SCIENCE  PROJECT - MODEL VIVA VOCE PRESENTATION</vt:lpstr>
      <vt:lpstr>Abstract</vt:lpstr>
      <vt:lpstr>Abstract (Cont..)</vt:lpstr>
      <vt:lpstr>  Literature Survey</vt:lpstr>
      <vt:lpstr>  Literature Survey (Cont..)</vt:lpstr>
      <vt:lpstr>  Problem Statement</vt:lpstr>
      <vt:lpstr>  Objectives of the Study</vt:lpstr>
      <vt:lpstr>Proposed Overall Architecture Diagram </vt:lpstr>
      <vt:lpstr> Module - 1 </vt:lpstr>
      <vt:lpstr>Module – 1 contd..</vt:lpstr>
      <vt:lpstr>  Module - 2</vt:lpstr>
      <vt:lpstr>Module – 2 contd..</vt:lpstr>
      <vt:lpstr>  Module - 3</vt:lpstr>
      <vt:lpstr>Module – 3 contd..</vt:lpstr>
      <vt:lpstr>  Module - 4</vt:lpstr>
      <vt:lpstr>Module – 4 contd..</vt:lpstr>
      <vt:lpstr>  Experimental Results  &amp;  Discussions </vt:lpstr>
      <vt:lpstr>Hardware and Software Requirements</vt:lpstr>
      <vt:lpstr>Dataset 1-Description — Kaggle Human Palm Images</vt:lpstr>
      <vt:lpstr>Module 1 - Results</vt:lpstr>
      <vt:lpstr>Module 1 – Results contd..</vt:lpstr>
      <vt:lpstr>Module 2 - Results</vt:lpstr>
      <vt:lpstr>Module 2 – Results contd..</vt:lpstr>
      <vt:lpstr>Module 3 - Results</vt:lpstr>
      <vt:lpstr>Module 3 – Results contd..</vt:lpstr>
      <vt:lpstr>Module 4 - Results</vt:lpstr>
      <vt:lpstr>Module 4 – Results contd..</vt:lpstr>
      <vt:lpstr>Conclusion</vt:lpstr>
      <vt:lpstr>Future Scope</vt:lpstr>
      <vt:lpstr>References</vt:lpstr>
      <vt:lpstr>References (Cont..)</vt:lpstr>
      <vt:lpstr>List of Conference Papers - Presented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Ph.D Pre Synopsis Meeting</dc:title>
  <dc:creator>Agnes Pearly</dc:creator>
  <cp:lastModifiedBy>LENOVO</cp:lastModifiedBy>
  <cp:revision>140</cp:revision>
  <dcterms:created xsi:type="dcterms:W3CDTF">2025-10-15T20:06:21Z</dcterms:created>
  <dcterms:modified xsi:type="dcterms:W3CDTF">2026-05-11T10:22:43Z</dcterms:modified>
</cp:coreProperties>
</file>