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6" r:id="rId1"/>
  </p:sldMasterIdLst>
  <p:notesMasterIdLst>
    <p:notesMasterId r:id="rId35"/>
  </p:notesMasterIdLst>
  <p:handoutMasterIdLst>
    <p:handoutMasterId r:id="rId36"/>
  </p:handoutMasterIdLst>
  <p:sldIdLst>
    <p:sldId id="327" r:id="rId2"/>
    <p:sldId id="258" r:id="rId3"/>
    <p:sldId id="262" r:id="rId4"/>
    <p:sldId id="269" r:id="rId5"/>
    <p:sldId id="270" r:id="rId6"/>
    <p:sldId id="329" r:id="rId7"/>
    <p:sldId id="337" r:id="rId8"/>
    <p:sldId id="273" r:id="rId9"/>
    <p:sldId id="338" r:id="rId10"/>
    <p:sldId id="278" r:id="rId11"/>
    <p:sldId id="282" r:id="rId12"/>
    <p:sldId id="339" r:id="rId13"/>
    <p:sldId id="340" r:id="rId14"/>
    <p:sldId id="283" r:id="rId15"/>
    <p:sldId id="342" r:id="rId16"/>
    <p:sldId id="341" r:id="rId17"/>
    <p:sldId id="299" r:id="rId18"/>
    <p:sldId id="301" r:id="rId19"/>
    <p:sldId id="300" r:id="rId20"/>
    <p:sldId id="302" r:id="rId21"/>
    <p:sldId id="343" r:id="rId22"/>
    <p:sldId id="344" r:id="rId23"/>
    <p:sldId id="345" r:id="rId24"/>
    <p:sldId id="348" r:id="rId25"/>
    <p:sldId id="349" r:id="rId26"/>
    <p:sldId id="346" r:id="rId27"/>
    <p:sldId id="347" r:id="rId28"/>
    <p:sldId id="324" r:id="rId29"/>
    <p:sldId id="325" r:id="rId30"/>
    <p:sldId id="326" r:id="rId31"/>
    <p:sldId id="331" r:id="rId32"/>
    <p:sldId id="334" r:id="rId33"/>
    <p:sldId id="336" r:id="rId34"/>
    <p:sldId id="351" r:id="rId41"/>
    <p:sldId id="352" r:id="rId42"/>
    <p:sldId id="35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95" autoAdjust="0"/>
    <p:restoredTop sz="94660"/>
  </p:normalViewPr>
  <p:slideViewPr>
    <p:cSldViewPr snapToGrid="0">
      <p:cViewPr>
        <p:scale>
          <a:sx n="75" d="100"/>
          <a:sy n="75" d="100"/>
        </p:scale>
        <p:origin x="1416" y="5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2F805-4DAF-4B12-8D58-CC93CA5E06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B0B4B-F5D1-4834-B67F-D281F17C5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83850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0A0E6-AAFC-4CE4-AB44-B7D812F358C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CE76-37BA-493A-AA5D-A52B4950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2560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2135D-AB49-5656-9963-336102E707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6575" y="183942"/>
            <a:ext cx="658425" cy="6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36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8239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861774"/>
          </a:xfr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882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861774"/>
          </a:xfr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320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2342896" y="1825751"/>
            <a:ext cx="7506208" cy="2606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456621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379984" y="245363"/>
            <a:ext cx="1127759" cy="8747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7035" y="1328394"/>
            <a:ext cx="1099792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0449" y="6478625"/>
            <a:ext cx="916092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09353" y="6578734"/>
            <a:ext cx="1432560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47535" y="6447704"/>
            <a:ext cx="305645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97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timing>
    <p:tnLst>
      <p:par>
        <p:cTn id="1" dur="indefinite" restart="never" nodeType="tmRoot"/>
      </p:par>
    </p:tnLst>
  </p:timing>
  <p:hf hd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3486235" y="1397000"/>
            <a:ext cx="5664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TRUSTLINE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6595" y="2317298"/>
            <a:ext cx="10063479" cy="3084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endParaRPr lang="en-US" b="1" dirty="0" smtClean="0">
              <a:latin typeface="Times New Roman" pitchFamily="18" charset="0"/>
              <a:cs typeface="Times New Roman" pitchFamily="18" charset="0"/>
              <a:solidFill>
                <a:srgbClr val="FFFFFF"/>
              </a:solidFill>
            </a:endParaRPr>
            <a:r>
              <a:rPr lang="en-US" sz="1800">
                <a:latin typeface="Arial"/>
                <a:solidFill>
                  <a:srgbClr val="FFFFFF"/>
                </a:solidFill>
              </a:rPr>
              <a:t>A Self-Hosted End-to-End Encrypted Real-Time Collaboration Platform</a:t>
            </a:r>
            <a:br/>
            <a:r>
              <a:rPr lang="en-US" sz="1800">
                <a:latin typeface="Arial"/>
                <a:solidFill>
                  <a:srgbClr val="FFFFFF"/>
                </a:solidFill>
              </a:rPr>
              <a:t>for Confidential Enterprise Workflows</a:t>
            </a:r>
            <a:br/>
            <a:r>
              <a:rPr lang="en-US" sz="1800">
                <a:latin typeface="Arial"/>
                <a:solidFill>
                  <a:srgbClr val="FFFFFF"/>
                </a:solidFill>
              </a:rPr>
              <a:t/>
            </a:r>
            <a:br/>
            <a:r>
              <a:rPr lang="en-US" sz="1800">
                <a:latin typeface="Arial"/>
                <a:solidFill>
                  <a:srgbClr val="FFFFFF"/>
                </a:solidFill>
              </a:rPr>
              <a:t>Presented By: Student 1, Student 2, Student 3</a:t>
            </a:r>
            <a:br/>
            <a:r>
              <a:rPr lang="en-US" sz="1800">
                <a:latin typeface="Arial"/>
                <a:solidFill>
                  <a:srgbClr val="FFFFFF"/>
                </a:solidFill>
              </a:rPr>
              <a:t>Register Numbers: Reg No 1, Reg No 2, Reg No 3</a:t>
            </a:r>
            <a:br/>
            <a:r>
              <a:rPr lang="en-US" sz="1800">
                <a:latin typeface="Arial"/>
                <a:solidFill>
                  <a:srgbClr val="FFFFFF"/>
                </a:solidFill>
              </a:rPr>
              <a:t>Department of Computer Science and Engineering</a:t>
            </a:r>
            <a:br/>
            <a:r>
              <a:rPr lang="en-US" sz="1800">
                <a:latin typeface="Arial"/>
                <a:solidFill>
                  <a:srgbClr val="FFFFFF"/>
                </a:solidFill>
              </a:rPr>
              <a:t>Bharath Institute of Higher Education and Research (BIHER)</a:t>
            </a:r>
            <a:br/>
            <a:r>
              <a:rPr lang="en-US" sz="1800">
                <a:latin typeface="Arial"/>
                <a:solidFill>
                  <a:srgbClr val="FFFFFF"/>
                </a:solidFill>
              </a:rPr>
              <a:t/>
            </a:r>
            <a:br/>
            <a:r>
              <a:rPr lang="en-US" sz="1800">
                <a:latin typeface="Arial"/>
                <a:solidFill>
                  <a:srgbClr val="FFFFFF"/>
                </a:solidFill>
              </a:rPr>
              <a:t>Guided By: Guide Name, Assistant Professor</a:t>
            </a:r>
          </a:p>
        </p:txBody>
      </p:sp>
      <p:sp>
        <p:nvSpPr>
          <p:cNvPr id="5" name="object 5"/>
          <p:cNvSpPr/>
          <p:nvPr/>
        </p:nvSpPr>
        <p:spPr>
          <a:xfrm>
            <a:off x="556768" y="39623"/>
            <a:ext cx="11269472" cy="13319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"/>
            <a:ext cx="12192000" cy="6844665"/>
          </a:xfrm>
          <a:custGeom>
            <a:avLst/>
            <a:gdLst/>
            <a:ahLst/>
            <a:cxnLst/>
            <a:rect l="l" t="t" r="r" b="b"/>
            <a:pathLst>
              <a:path w="9144000" h="6844665">
                <a:moveTo>
                  <a:pt x="0" y="6844283"/>
                </a:moveTo>
                <a:lnTo>
                  <a:pt x="9144000" y="6844283"/>
                </a:lnTo>
                <a:lnTo>
                  <a:pt x="9144000" y="0"/>
                </a:lnTo>
                <a:lnTo>
                  <a:pt x="0" y="0"/>
                </a:lnTo>
                <a:lnTo>
                  <a:pt x="0" y="6844283"/>
                </a:lnTo>
                <a:close/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64CD-8CCB-A27A-12D2-171367C5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664899-66D2-4A24-5040-74AE8E8B7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035" y="1256467"/>
            <a:ext cx="11051625" cy="400110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Addressing vulnerabilities in modern enterprise collaboration.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The problem of centralized trust risks and cloud service provider vulnerabilities.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Elimination of implicit trust models to protect proprietary data.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Implementation of strict client-side Zero-Knowledge Architecture.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Real-time encrypted synchronization using Conflict-Free Replicated Data Types (CRDTs).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Self-hosted deployment ensuring absolute data sovereignty for enterprises.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Objective: Highly secure, high-performance, and seamless confidential workflows.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6062D2-A93D-4931-5CDB-FC9DD06CC4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96180" y="349006"/>
            <a:ext cx="2476829" cy="553998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47247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B5A35-FDE5-DFEB-1EA2-8993AEB7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685D23-711B-1D8B-7374-22DB095D2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035" y="1328394"/>
            <a:ext cx="10997928" cy="430887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Core technologies driving Trustline's secure architecture.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X3DH &amp; Double Ratchet: Advanced End-to-End Encryption ensuring forward and post-compromise secrecy.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Device Identity Signature: Cryptographic passwordless authentication eliminating credential theft.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SQLCipher &amp; Argon2id: Memory-hard local vault encryption providing extreme brute-force resistance.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Blind Router &amp; PostgreSQL RLS: Stateless message relaying with strict tenant-level isolation.</a:t>
            </a:r>
          </a:p>
          <a:p>
            <a:r>
              <a:rPr lang="en-US" sz="1800" b="1">
                <a:latin typeface="Arial"/>
                <a:solidFill>
                  <a:srgbClr val="FFFFFF"/>
                </a:solidFill>
              </a:rPr>
              <a:t>Synchronization Latency: ~110 ms</a:t>
            </a:r>
          </a:p>
          <a:p>
            <a:r>
              <a:rPr lang="en-US" sz="1800" b="1">
                <a:latin typeface="Arial"/>
                <a:solidFill>
                  <a:srgbClr val="FFFFFF"/>
                </a:solidFill>
              </a:rPr>
              <a:t>Authentication Latency: ~359 ms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6C8F6E-C403-3205-9CA1-085E9C6BC7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31323" y="349006"/>
            <a:ext cx="3995225" cy="553998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Abstract (Continued)</a:t>
            </a:r>
          </a:p>
        </p:txBody>
      </p:sp>
    </p:spTree>
    <p:extLst>
      <p:ext uri="{BB962C8B-B14F-4D97-AF65-F5344CB8AC3E}">
        <p14:creationId xmlns:p14="http://schemas.microsoft.com/office/powerpoint/2010/main" val="415485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ED0D-8FAE-1EFC-D229-45DE4BE5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E20AD8-C9C9-08E5-5A79-22A104A956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EF4604-6840-26B7-DCC0-88680EFEA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545922"/>
              </p:ext>
            </p:extLst>
          </p:nvPr>
        </p:nvGraphicFramePr>
        <p:xfrm>
          <a:off x="454660" y="1351267"/>
          <a:ext cx="11548656" cy="43224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588">
                  <a:extLst>
                    <a:ext uri="{9D8B030D-6E8A-4147-A177-3AD203B41FA5}">
                      <a16:colId xmlns:a16="http://schemas.microsoft.com/office/drawing/2014/main" val="3021297087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865747701"/>
                    </a:ext>
                  </a:extLst>
                </a:gridCol>
                <a:gridCol w="2625213">
                  <a:extLst>
                    <a:ext uri="{9D8B030D-6E8A-4147-A177-3AD203B41FA5}">
                      <a16:colId xmlns:a16="http://schemas.microsoft.com/office/drawing/2014/main" val="724742859"/>
                    </a:ext>
                  </a:extLst>
                </a:gridCol>
                <a:gridCol w="2377126">
                  <a:extLst>
                    <a:ext uri="{9D8B030D-6E8A-4147-A177-3AD203B41FA5}">
                      <a16:colId xmlns:a16="http://schemas.microsoft.com/office/drawing/2014/main" val="4007349693"/>
                    </a:ext>
                  </a:extLst>
                </a:gridCol>
              </a:tblGrid>
              <a:tr h="43490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rgbClr val="FFFFFF"/>
                          </a:solidFill>
                        </a:rPr>
                        <a:t>Author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rgbClr val="FFFFFF"/>
                          </a:solidFill>
                        </a:rP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rgbClr val="FFFFFF"/>
                          </a:solidFill>
                        </a:rPr>
                        <a:t>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rgbClr val="FFFFFF"/>
                          </a:solidFill>
                        </a:rPr>
                        <a:t>Demerits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93857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Signal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X3DH &amp; Double Ratchet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Strong E2EE, Forward Secrecy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Poor group scaling, tied to phone numbers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Matrix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Decentralized Federated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Open standard, self-hostable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Metadata leakage, complex key management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Yjs (CRDTs)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Distributed mathematical convergence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No central ordering server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State bloat over time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Zero Trust Arch.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Continuous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Mitigates lateral 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Often lacks strong data encryption at rest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Device Signatures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Cryptographic challenge-response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Phishing resistant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/>
                          <a:solidFill>
                            <a:srgbClr val="FFFFFF"/>
                          </a:solidFill>
                        </a:rPr>
                        <a:t>Device recovery complexity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62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56F84-9178-1284-8664-CFEFAFB3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6EC51-B1D8-D791-049B-8DB6916937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Identified Research Gaps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EF4604-6840-26B7-DCC0-88680EFEA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752794"/>
              </p:ext>
            </p:extLst>
          </p:nvPr>
        </p:nvGraphicFramePr>
        <p:xfrm>
          <a:off x="321671" y="1757667"/>
          <a:ext cx="11548656" cy="43224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588">
                  <a:extLst>
                    <a:ext uri="{9D8B030D-6E8A-4147-A177-3AD203B41FA5}">
                      <a16:colId xmlns:a16="http://schemas.microsoft.com/office/drawing/2014/main" val="3021297087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865747701"/>
                    </a:ext>
                  </a:extLst>
                </a:gridCol>
                <a:gridCol w="2625213">
                  <a:extLst>
                    <a:ext uri="{9D8B030D-6E8A-4147-A177-3AD203B41FA5}">
                      <a16:colId xmlns:a16="http://schemas.microsoft.com/office/drawing/2014/main" val="724742859"/>
                    </a:ext>
                  </a:extLst>
                </a:gridCol>
                <a:gridCol w="2377126">
                  <a:extLst>
                    <a:ext uri="{9D8B030D-6E8A-4147-A177-3AD203B41FA5}">
                      <a16:colId xmlns:a16="http://schemas.microsoft.com/office/drawing/2014/main" val="4007349693"/>
                    </a:ext>
                  </a:extLst>
                </a:gridCol>
              </a:tblGrid>
              <a:tr h="43490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rgbClr val="FFFFFF"/>
                          </a:solidFill>
                        </a:rPr>
                        <a:t>Author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rgbClr val="FFFFFF"/>
                          </a:solidFill>
                        </a:rP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rgbClr val="FFFFFF"/>
                          </a:solidFill>
                        </a:rPr>
                        <a:t>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olidFill>
                            <a:srgbClr val="FFFFFF"/>
                          </a:solidFill>
                        </a:rPr>
                        <a:t>Demerits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938571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6458602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5002894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1298578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olidFill>
                          <a:srgbClr val="FFFFFF"/>
                        </a:solidFill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6509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86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DD13-EFB6-8350-7096-A97CF7FA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7956E3-0E44-F95E-CFBE-F2F67FF3C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716" y="1823884"/>
            <a:ext cx="9616162" cy="384721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The inherent insecurity of centralized enterprise tools.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Implicit Trust &amp; Lateral Movement: Traditional firewalls fail when the network is breached.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Cloud Privacy Risks: Providers holding decryption keys become high-value targets.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Insider Threats: Administrators have unfettered access to plain-text databases.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Metadata Exposure: Traffic analysis profiles users even when payload data is encrypted.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Authentication Weaknesses: Passwords and legacy 2FA are vulnerable to phishing and GPU cracking.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Enterprise Sovereignty: Organizations lose absolute control over their sensitive IP.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EA0091-461D-6699-002E-CD73DE6A8C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29077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1454-9C85-4BF9-8993-D0C249F4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B0B8BC-0832-B78B-75B6-0A9029B63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826" y="1626250"/>
            <a:ext cx="11728174" cy="353943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The foundational goals of the Trustline platform.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Implement true Zero-Knowledge communication where servers cannot read data.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Develop a "Blind Routing" backend that relays encrypted packets without inspecting content.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Integrate highly secure, cryptographic challenge-response authentication avoiding passwords.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Enable encrypted real-time synchronization without relying on a central authority.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Guarantee forward secrecy and post-compromise security for all communication.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Provide a fully self-hosted infrastructure for complete enterprise control.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7471F7-840E-B4F9-5DF3-A8A87BF997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Objectives of the Study</a:t>
            </a:r>
          </a:p>
        </p:txBody>
      </p:sp>
    </p:spTree>
    <p:extLst>
      <p:ext uri="{BB962C8B-B14F-4D97-AF65-F5344CB8AC3E}">
        <p14:creationId xmlns:p14="http://schemas.microsoft.com/office/powerpoint/2010/main" val="416776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6E421-6422-A7BA-8239-569214DE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B11452-486A-E03F-0733-C27749F373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88635" y="468278"/>
            <a:ext cx="5804452" cy="984885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Proposed Overall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1632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6D7BC-0018-8CD9-D8DC-13F0884E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FD5B14-2EA5-B0D3-10AF-28A9B77D8E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5009" y="1313103"/>
            <a:ext cx="10426148" cy="1415772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1 - Cryptographic Key Exchange</a:t>
            </a:r>
          </a:p>
        </p:txBody>
      </p:sp>
    </p:spTree>
    <p:extLst>
      <p:ext uri="{BB962C8B-B14F-4D97-AF65-F5344CB8AC3E}">
        <p14:creationId xmlns:p14="http://schemas.microsoft.com/office/powerpoint/2010/main" val="212428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8550-71CC-C58F-C154-2FD27337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B841F-3ACD-15CF-FE2E-95E9E15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238" y="1883668"/>
            <a:ext cx="10982099" cy="1831271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Continuous security for ongoing communication sessions.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Root Chain Synchronization: Orchestrating the derivation of all subsequent key chains.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Sending/Receiving Chains: Independent key rotation for inbound and outbound message flows.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Message Key Derivation: Every single message is encrypted with a unique, one-time key.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Forward Secrecy: Compromised current keys cannot decrypt previously sent messages.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Post-Compromise Security: A compromised session heals itself upon the next asynchronous key exchange.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BCA3A-2FCD-D74F-AB63-38939102E7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82779" y="998765"/>
            <a:ext cx="9183757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1 - Double Ratchet Protocol</a:t>
            </a:r>
          </a:p>
        </p:txBody>
      </p:sp>
    </p:spTree>
    <p:extLst>
      <p:ext uri="{BB962C8B-B14F-4D97-AF65-F5344CB8AC3E}">
        <p14:creationId xmlns:p14="http://schemas.microsoft.com/office/powerpoint/2010/main" val="205606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2 - Blind Router Backend</a:t>
            </a:r>
          </a:p>
        </p:txBody>
      </p:sp>
    </p:spTree>
    <p:extLst>
      <p:ext uri="{BB962C8B-B14F-4D97-AF65-F5344CB8AC3E}">
        <p14:creationId xmlns:p14="http://schemas.microsoft.com/office/powerpoint/2010/main" val="13430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8550-71CC-C58F-C154-2FD27337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B841F-3ACD-15CF-FE2E-95E9E15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238" y="1883668"/>
            <a:ext cx="10982099" cy="1831271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Enforcing strict tenant boundaries using PostgreSQL.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Tenant Isolation: Complete logical separation of data between different enterprise organizations.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Org-Level Access Control: Restricting data access rigorously based on organization IDs.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Secure Row-Level Security (RLS): Database-level policies enforcing isolation independently of application logic.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Attack Mitigation: Prevents cross-tenant data leakage even in the event of an application-layer vulnerability.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BCA3A-2FCD-D74F-AB63-38939102E7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82779" y="998765"/>
            <a:ext cx="9183757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2 - Enterprise Data Segregation</a:t>
            </a:r>
          </a:p>
        </p:txBody>
      </p:sp>
    </p:spTree>
    <p:extLst>
      <p:ext uri="{BB962C8B-B14F-4D97-AF65-F5344CB8AC3E}">
        <p14:creationId xmlns:p14="http://schemas.microsoft.com/office/powerpoint/2010/main" val="401448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3 - Cryptographic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89053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F4AC-124D-B0ED-A4D2-B95A3843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F1BD02-31E0-B40F-19CB-D842E2C6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387" y="1854851"/>
            <a:ext cx="9026013" cy="430887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Protecting data at rest on client devices.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Secure Key Derivation: Utilizing Argon2id for deriving robust encryption keys from user credentials.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Memory-Hard Function: Defending against highly parallelized GPU/ASIC cracking arrays.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Vault Encryption: Encrypting the entire local SQLite database using SQLCipher.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Rapid Indexed Search: Implementing FTS5 over decrypted data in memory for instant query responses.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6A3BF8-C665-FB3A-3EC1-07A0682B7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3 - Secure Local Persistence</a:t>
            </a:r>
          </a:p>
        </p:txBody>
      </p:sp>
    </p:spTree>
    <p:extLst>
      <p:ext uri="{BB962C8B-B14F-4D97-AF65-F5344CB8AC3E}">
        <p14:creationId xmlns:p14="http://schemas.microsoft.com/office/powerpoint/2010/main" val="95154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4 - Distributed Encrypted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302675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F4AC-124D-B0ED-A4D2-B95A3843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F1BD02-31E0-B40F-19CB-D842E2C6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387" y="1854851"/>
            <a:ext cx="9026013" cy="430887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Enterprise control over edge devices.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Secure Device Onboarding: Cryptographic verification required when adding new devices to an account.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Encrypted Storage Management: Local handling of cryptographic materials and encrypted caches.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Remote Wipe Capabilities: Administrators can securely invalidate device sessions and trigger local vault destruction.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Shamir's Secret Sharing: Securely partitioning recovery keys to prevent single-point compromise.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6A3BF8-C665-FB3A-3EC1-07A0682B7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4 - Device &amp; Vault Management</a:t>
            </a:r>
          </a:p>
        </p:txBody>
      </p:sp>
    </p:spTree>
    <p:extLst>
      <p:ext uri="{BB962C8B-B14F-4D97-AF65-F5344CB8AC3E}">
        <p14:creationId xmlns:p14="http://schemas.microsoft.com/office/powerpoint/2010/main" val="205894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DA58-8EA9-45DC-10E5-946F1E0A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0A6C27-4612-9473-55DD-B656EA7670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53749" y="1024869"/>
            <a:ext cx="7474226" cy="3693319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Experimental Results &amp; Benchmarks</a:t>
            </a:r>
          </a:p>
        </p:txBody>
      </p:sp>
    </p:spTree>
    <p:extLst>
      <p:ext uri="{BB962C8B-B14F-4D97-AF65-F5344CB8AC3E}">
        <p14:creationId xmlns:p14="http://schemas.microsoft.com/office/powerpoint/2010/main" val="232088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6B61-97FA-A841-394F-EED0F9B4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53F23D-204C-8356-2572-A4D3FEBC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168" y="1918649"/>
            <a:ext cx="10509331" cy="3416320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System specifications for deploying and running Trustline.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039DFF-14C8-7288-891C-1C4A68434F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Hardware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342676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CBA80-C236-20C4-6E5A-A43C1A05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9BBB8D-17E6-CCB2-9555-5837D05E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723" y="1390165"/>
            <a:ext cx="11628782" cy="5386090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The technological stack powering the platform.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4D5817-BD82-E71C-7FE8-3FF3F3F07E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80930" y="416770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Software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133573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Infrastructure Stack Summary</a:t>
            </a:r>
          </a:p>
        </p:txBody>
      </p:sp>
    </p:spTree>
    <p:extLst>
      <p:ext uri="{BB962C8B-B14F-4D97-AF65-F5344CB8AC3E}">
        <p14:creationId xmlns:p14="http://schemas.microsoft.com/office/powerpoint/2010/main" val="364398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Data Collection &amp; Testing Simulation</a:t>
            </a:r>
          </a:p>
        </p:txBody>
      </p:sp>
    </p:spTree>
    <p:extLst>
      <p:ext uri="{BB962C8B-B14F-4D97-AF65-F5344CB8AC3E}">
        <p14:creationId xmlns:p14="http://schemas.microsoft.com/office/powerpoint/2010/main" val="266176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Data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397922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1 Results - X3DH</a:t>
            </a:r>
          </a:p>
        </p:txBody>
      </p:sp>
    </p:spTree>
    <p:extLst>
      <p:ext uri="{BB962C8B-B14F-4D97-AF65-F5344CB8AC3E}">
        <p14:creationId xmlns:p14="http://schemas.microsoft.com/office/powerpoint/2010/main" val="27022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1 Results - Double Ratchet</a:t>
            </a:r>
          </a:p>
        </p:txBody>
      </p:sp>
    </p:spTree>
    <p:extLst>
      <p:ext uri="{BB962C8B-B14F-4D97-AF65-F5344CB8AC3E}">
        <p14:creationId xmlns:p14="http://schemas.microsoft.com/office/powerpoint/2010/main" val="170311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2 Results - Blind Routing</a:t>
            </a:r>
          </a:p>
        </p:txBody>
      </p:sp>
    </p:spTree>
    <p:extLst>
      <p:ext uri="{BB962C8B-B14F-4D97-AF65-F5344CB8AC3E}">
        <p14:creationId xmlns:p14="http://schemas.microsoft.com/office/powerpoint/2010/main" val="244983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2 Results - Tenant Isolation</a:t>
            </a:r>
          </a:p>
        </p:txBody>
      </p:sp>
    </p:spTree>
    <p:extLst>
      <p:ext uri="{BB962C8B-B14F-4D97-AF65-F5344CB8AC3E}">
        <p14:creationId xmlns:p14="http://schemas.microsoft.com/office/powerpoint/2010/main" val="234221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3 Results -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29357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AE5D-D5C6-DDA9-D583-E136976A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23410F-0743-E139-F4D7-ABEBBD598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1052" y="1957978"/>
            <a:ext cx="9832258" cy="707886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Validation of local storage security.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Argon2id Performance: Key derivation tuned for client hardware, balancing security against login delays.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Secure Vault Encryption: SQLCipher maintained strict integrity over the local SQLite database.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Brute-Force Resistance: Validated against massive dictionary attacks, projecting over 100,000 years to compromise a secure vault.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4E6E8B-8966-7F73-C372-41507A4E23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3 Results - Cryptographic Vault</a:t>
            </a:r>
          </a:p>
        </p:txBody>
      </p:sp>
    </p:spTree>
    <p:extLst>
      <p:ext uri="{BB962C8B-B14F-4D97-AF65-F5344CB8AC3E}">
        <p14:creationId xmlns:p14="http://schemas.microsoft.com/office/powerpoint/2010/main" val="339340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B69E8-6989-48EF-BCAE-E06D8811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CD210F-AF9B-A6EB-AC1D-174BFD1C0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465" y="2174287"/>
            <a:ext cx="10356574" cy="430887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Validation of real-time distributed consistency.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Synchronization Latency: Maintained ultra-low latency (~110ms) across geographically distributed clients.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Encrypted Collaboration Results: Simultaneous editing functioned perfectly over the encrypted WebSocket tunnel.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Distributed Convergence Validation: Clients recovering from offline states successfully mathematically merged all pending updates flawlessly.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1145AD-E90B-2578-C0C1-0787E497C0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4 Results - CRDT Sync</a:t>
            </a:r>
          </a:p>
        </p:txBody>
      </p:sp>
    </p:spTree>
    <p:extLst>
      <p:ext uri="{BB962C8B-B14F-4D97-AF65-F5344CB8AC3E}">
        <p14:creationId xmlns:p14="http://schemas.microsoft.com/office/powerpoint/2010/main" val="52568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2A9BC-CD7A-450E-5394-BAC75EFE4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344" y="2026804"/>
            <a:ext cx="9772516" cy="353943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Validation of administrative edge control.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Secure Multi-Device Sync: Flawless propagation of application state across desktop and mobile clients.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Secure Device Wipe Results: Remote revocation successfully destroyed local cryptographic materials instantaneously.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Vault Recovery Validation: Shamir's Secret Sharing successfully reconstructed vault access during simulated master device loss.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Module 4 Results - Device Management</a:t>
            </a:r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2A9BC-CD7A-450E-5394-BAC75EFE4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382" y="1918649"/>
            <a:ext cx="10126478" cy="307777"/>
          </a:xfrm>
        </p:spPr>
        <p:txBody>
          <a:bodyPr/>
          <a:lstStyle/>
          <a:p>
            <a:r>
              <a:rPr lang="en-US" sz="1800">
                <a:latin typeface="Arial"/>
                <a:solidFill>
                  <a:srgbClr val="FFFFFF"/>
                </a:solidFill>
              </a:rPr>
              <a:t>Summary of project achievements.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Validated the feasibility of high-performance, strictly Zero-Knowledge enterprise collaboration.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Proved that advanced cryptography (AES-GCM, Argon2id) does not hinder sub-250ms real-time synchronization constraints.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Successfully replaced weak password paradigms with highly secure, cryptographic challenge-response authentication.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Delivered a fully functional, self-hosted architecture guaranteeing digital sovereignty for enterprises.</a:t>
            </a:r>
          </a:p>
          <a:p>
            <a:pPr marL="285750" indent="-285750">
              <a:buFont typeface="Arial"/>
              <a:buChar char="•"/>
            </a:pPr>
            <a:r>
              <a:rPr lang="en-US" sz="1800">
                <a:latin typeface="Arial"/>
                <a:solidFill>
                  <a:srgbClr val="FFFFFF"/>
                </a:solidFill>
              </a:rPr>
              <a:t>Effectively protected extremely confidential workflows from lateral movement, cloud breaches, and insider threats.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r>
              <a:rPr lang="en-US" sz="3600" b="1">
                <a:latin typeface="Arial"/>
                <a:solidFill>
                  <a:srgbClr val="FFFFFF"/>
                </a:solidFill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600" b="1" spc="-5" dirty="0">
                <a:latin typeface="Bookman Uralic"/>
                <a:cs typeface="Bookman Uralic"/>
                <a:solidFill>
                  <a:srgbClr val="FFFFFF"/>
                </a:solidFill>
              </a:rPr>
              <a:t>&amp;</a:t>
            </a:r>
            <a:endParaRPr sz="3600">
              <a:latin typeface="Bookman Uralic"/>
              <a:cs typeface="Bookman Uralic"/>
              <a:solidFill>
                <a:srgbClr val="FFFFFF"/>
              </a:solidFill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4000" b="1" spc="-5" dirty="0">
                <a:latin typeface="Bookman Uralic"/>
                <a:cs typeface="Bookman Uralic"/>
                <a:solidFill>
                  <a:srgbClr val="FFFFFF"/>
                </a:solidFill>
              </a:rPr>
              <a:t>Queries</a:t>
            </a:r>
            <a:endParaRPr sz="4000">
              <a:latin typeface="Bookman Uralic"/>
              <a:cs typeface="Bookman Uralic"/>
              <a:solidFill>
                <a:srgbClr val="FFFFFF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600" b="1" spc="-5" dirty="0">
                <a:latin typeface="Bookman Uralic"/>
                <a:cs typeface="Bookman Uralic"/>
                <a:solidFill>
                  <a:srgbClr val="FFFFFF"/>
                </a:solidFill>
              </a:rPr>
              <a:t>&amp;</a:t>
            </a:r>
            <a:endParaRPr sz="3600">
              <a:latin typeface="Bookman Uralic"/>
              <a:cs typeface="Bookman Uralic"/>
              <a:solidFill>
                <a:srgbClr val="FFFFFF"/>
              </a:solidFill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4000" b="1" spc="-5" dirty="0">
                <a:latin typeface="Bookman Uralic"/>
                <a:cs typeface="Bookman Uralic"/>
                <a:solidFill>
                  <a:srgbClr val="FFFFFF"/>
                </a:solidFill>
              </a:rPr>
              <a:t>Queries</a:t>
            </a:r>
            <a:endParaRPr sz="4000">
              <a:latin typeface="Bookman Uralic"/>
              <a:cs typeface="Bookman Uralic"/>
              <a:solidFill>
                <a:srgbClr val="FFFFFF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600" b="1" spc="-5" dirty="0">
                <a:latin typeface="Bookman Uralic"/>
                <a:cs typeface="Bookman Uralic"/>
                <a:solidFill>
                  <a:srgbClr val="FFFFFF"/>
                </a:solidFill>
              </a:rPr>
              <a:t>&amp;</a:t>
            </a:r>
            <a:endParaRPr sz="3600">
              <a:latin typeface="Bookman Uralic"/>
              <a:cs typeface="Bookman Uralic"/>
              <a:solidFill>
                <a:srgbClr val="FFFFFF"/>
              </a:solidFill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4000" b="1" spc="-5" dirty="0">
                <a:latin typeface="Bookman Uralic"/>
                <a:cs typeface="Bookman Uralic"/>
                <a:solidFill>
                  <a:srgbClr val="FFFFFF"/>
                </a:solidFill>
              </a:rPr>
              <a:t>Queries</a:t>
            </a:r>
            <a:endParaRPr sz="4000">
              <a:latin typeface="Bookman Uralic"/>
              <a:cs typeface="Bookman Uralic"/>
              <a:solidFill>
                <a:srgbClr val="FFFFFF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600" b="1" spc="-5" dirty="0">
                <a:latin typeface="Bookman Uralic"/>
                <a:cs typeface="Bookman Uralic"/>
                <a:solidFill>
                  <a:srgbClr val="FFFFFF"/>
                </a:solidFill>
              </a:rPr>
              <a:t>&amp;</a:t>
            </a:r>
            <a:endParaRPr sz="3600">
              <a:latin typeface="Bookman Uralic"/>
              <a:cs typeface="Bookman Uralic"/>
              <a:solidFill>
                <a:srgbClr val="FFFFFF"/>
              </a:solidFill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4000" b="1" spc="-5" dirty="0">
                <a:latin typeface="Bookman Uralic"/>
                <a:cs typeface="Bookman Uralic"/>
                <a:solidFill>
                  <a:srgbClr val="FFFFFF"/>
                </a:solidFill>
              </a:rPr>
              <a:t>Queries</a:t>
            </a:r>
            <a:endParaRPr sz="4000">
              <a:latin typeface="Bookman Uralic"/>
              <a:cs typeface="Bookman Uralic"/>
              <a:solidFill>
                <a:srgbClr val="FFFFFF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rgbClr val="FFFFFF"/>
      </a:dk1>
      <a:lt1>
        <a:srgbClr val="081120"/>
      </a:lt1>
      <a:dk2>
        <a:srgbClr val="00D8FF"/>
      </a:dk2>
      <a:lt2>
        <a:srgbClr val="05070A"/>
      </a:lt2>
      <a:accent1>
        <a:srgbClr val="00D8FF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F3EE6385-9107-4DD6-8965-E29BA5C6C8E1}" vid="{6D1B56FF-3199-4FF2-9F48-EF52C2803C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15309</TotalTime>
  <Words>173</Words>
  <Application>Microsoft Office PowerPoint</Application>
  <PresentationFormat>Widescreen</PresentationFormat>
  <Paragraphs>75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Bookman Uralic</vt:lpstr>
      <vt:lpstr>Calibri</vt:lpstr>
      <vt:lpstr>Castellar</vt:lpstr>
      <vt:lpstr>Times New Roman</vt:lpstr>
      <vt:lpstr>Trebuchet MS</vt:lpstr>
      <vt:lpstr>Wingdings</vt:lpstr>
      <vt:lpstr>Theme1</vt:lpstr>
      <vt:lpstr>DEPARTMENT OF COMPUTER SCIENCE  PROJECT - MODEL VIVA VOCE PRESENTATION</vt:lpstr>
      <vt:lpstr>Abstract</vt:lpstr>
      <vt:lpstr>Abstract (Cont..)</vt:lpstr>
      <vt:lpstr>  Literature Survey</vt:lpstr>
      <vt:lpstr>  Literature Survey (Cont..)</vt:lpstr>
      <vt:lpstr>  Problem Statement</vt:lpstr>
      <vt:lpstr>  Objectives of the Study</vt:lpstr>
      <vt:lpstr>Proposed Overall Architecture Diagram </vt:lpstr>
      <vt:lpstr> Module - 1 </vt:lpstr>
      <vt:lpstr>Module – 1 contd..</vt:lpstr>
      <vt:lpstr>  Module - 2</vt:lpstr>
      <vt:lpstr>Module – 2 contd..</vt:lpstr>
      <vt:lpstr>  Module - 3</vt:lpstr>
      <vt:lpstr>Module – 3 contd..</vt:lpstr>
      <vt:lpstr>  Module - 4</vt:lpstr>
      <vt:lpstr>Module – 4 contd..</vt:lpstr>
      <vt:lpstr>  Experimental Results  &amp;  Discussions </vt:lpstr>
      <vt:lpstr>Hardware and Software Requirements</vt:lpstr>
      <vt:lpstr>Dataset 1-Description — Kaggle Human Palm Images</vt:lpstr>
      <vt:lpstr>Module 1 - Results</vt:lpstr>
      <vt:lpstr>Module 1 – Results contd..</vt:lpstr>
      <vt:lpstr>Module 2 - Results</vt:lpstr>
      <vt:lpstr>Module 2 – Results contd..</vt:lpstr>
      <vt:lpstr>Module 3 - Results</vt:lpstr>
      <vt:lpstr>Module 3 – Results contd..</vt:lpstr>
      <vt:lpstr>Module 4 - Results</vt:lpstr>
      <vt:lpstr>Module 4 – Results contd..</vt:lpstr>
      <vt:lpstr>Conclusion</vt:lpstr>
      <vt:lpstr>Future Scope</vt:lpstr>
      <vt:lpstr>References</vt:lpstr>
      <vt:lpstr>References (Cont..)</vt:lpstr>
      <vt:lpstr>List of Conference Papers - Presented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Ph.D Pre Synopsis Meeting</dc:title>
  <dc:creator>Agnes Pearly</dc:creator>
  <cp:lastModifiedBy>LENOVO</cp:lastModifiedBy>
  <cp:revision>140</cp:revision>
  <dcterms:created xsi:type="dcterms:W3CDTF">2025-10-15T20:06:21Z</dcterms:created>
  <dcterms:modified xsi:type="dcterms:W3CDTF">2026-05-11T10:22:43Z</dcterms:modified>
</cp:coreProperties>
</file>